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A1A2E"/>
                </a:solidFill>
                <a:latin typeface="Calibri"/>
              </a:rPr>
              <a:t>Music Generation: Symbolic &amp; Continuous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55656E"/>
                </a:solidFill>
                <a:latin typeface="Calibri"/>
              </a:rPr>
              <a:t>CSE 253R  --  Assignment 2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0927" y="3840480"/>
            <a:ext cx="4937760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927" y="384048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Task 1: Symbolic Unconditioned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3840480"/>
            <a:ext cx="4937760" cy="5029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3007" y="384048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Task 4: Continuous Conditioned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656E"/>
                </a:solidFill>
                <a:latin typeface="Calibri"/>
              </a:rPr>
              <a:t>[Team names]  |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What We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486400" cy="4297680"/>
          </a:xfrm>
          <a:prstGeom prst="rect">
            <a:avLst/>
          </a:prstGeom>
          <a:solidFill>
            <a:srgbClr val="FDEDEC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4C3C"/>
                </a:solidFill>
                <a:latin typeface="Calibri"/>
              </a:rPr>
              <a:t>Task 1: Symbolic Unconditioned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Learn p(Soprano, Alto, Tenor, Bass) on Bach chorales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Generate new 4-part MIDI harmony from scratch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Models: Bigram Markov Chain, 2-layer LSTM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Dataset: JSB Chorales (368 chorales, music21)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Output: symbolic_unconditioned.mid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486400" cy="4297680"/>
          </a:xfrm>
          <a:prstGeom prst="rect">
            <a:avLst/>
          </a:prstGeom>
          <a:solidFill>
            <a:srgbClr val="EBF5FB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18872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498DB"/>
                </a:solidFill>
                <a:latin typeface="Calibri"/>
              </a:rPr>
              <a:t>Task 4: Continuous Conditioned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78308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Fine-tune MusicGen-small on genre-labeled audio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Generate 30s audio from text prompts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Model: MusicGen (300M params, Meta/AudioCraft)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Dataset: FMA-small (8,000 tracks, 8 genres)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Output: continuous_conditioned.mp3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532120"/>
            <a:ext cx="11460175" cy="594360"/>
          </a:xfrm>
          <a:prstGeom prst="rect">
            <a:avLst/>
          </a:prstGeom>
          <a:solidFill>
            <a:srgbClr val="E8E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5577840"/>
            <a:ext cx="11185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1A2E"/>
                </a:solidFill>
                <a:latin typeface="Calibri"/>
              </a:rPr>
              <a:t>Symbolic = interpretable, small data, rule-checkable.   Continuous = perceptually realistic, requires large pretrained model.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Task 1 Dataset: JSB Chorales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594359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8581"/>
                <a:gridCol w="3925018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music21 built-in corpus (no download)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Composer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J.S. Bach (BWV 1-438)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Chorales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368 (4-part SATB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Representation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(T, 4) MIDI pitch matrix, 16th-note grid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Vocabulary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47 tokens (46 pitches +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Pitch range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MIDI 36 (C2) to MIDI 81 (A5)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296 train / 36 val / 36 test chorales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Sequences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2,845 train / 178 val / 190 test windows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Window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64 steps = 16 beats = ~4 bars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da_piano_r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425135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303520"/>
            <a:ext cx="114601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656E"/>
                </a:solidFill>
                <a:latin typeface="Calibri"/>
              </a:rPr>
              <a:t>Benchmark used in: DeepBach (Hadjeres 2017), BachBot (Liang 2017), Music Transformer (Huang 2019), BacHMMachine (Hahn 2021)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Task 1: Modeling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7784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5565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6E"/>
                </a:solidFill>
                <a:latin typeface="Calibri"/>
              </a:rPr>
              <a:t>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2E"/>
                </a:solidFill>
                <a:latin typeface="Calibri"/>
              </a:rPr>
              <a:t>Bigram Markov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4 independent 47x47 transition matrices (one per voice)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Laplace (add-1) smoothing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Context: current timestep only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P(next | current) = (count + 1) / (sum + V)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/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Test Perplexity:  2.59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097280"/>
            <a:ext cx="5577840" cy="4114800"/>
          </a:xfrm>
          <a:prstGeom prst="rect">
            <a:avLst/>
          </a:prstGeom>
          <a:solidFill>
            <a:srgbClr val="FDEDEC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1430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OUR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41732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4C3C"/>
                </a:solidFill>
                <a:latin typeface="Calibri"/>
              </a:rPr>
              <a:t>2-Layer LSTM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Joint processing of all 4 voices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4 x Embedding(47, 64) concatenated -&gt; 256-dim input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LSTM(256, 256, 2 layers, dropout=0.3)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4 x Linear(256, 47) output heads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Parameters: 1.1M</a:t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/>
            </a:r>
          </a:p>
          <a:p>
            <a:pPr algn="l">
              <a:spcBef>
                <a:spcPts val="5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Test Perplexity:  1.97  (1.3x improvement)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349240"/>
            <a:ext cx="11460175" cy="502920"/>
          </a:xfrm>
          <a:prstGeom prst="rect">
            <a:avLst/>
          </a:prstGeom>
          <a:solidFill>
            <a:srgbClr val="E8E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394960"/>
            <a:ext cx="111858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1A1A2E"/>
                </a:solidFill>
                <a:latin typeface="Calibri"/>
              </a:rPr>
              <a:t>Objective: Cross-entropy loss summed over 4 voices.   Training: Teacher forcing.   Generation: Autoregressive sampling with temperature.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LSTM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658368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Courier New"/>
              </a:rPr>
              <a:t>Input: (batch, T, 4) token indices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/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Embed(47,64)   Embed(47,64)   Embed(47,64)   Embed(47,64)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Soprano          Alto          Tenor           Bass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/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           concatenate -&gt; (batch, T, 256)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/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      LSTM(256 hidden, 2 layers, dropout=0.3)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                 (batch, T, 256)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/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Linear(256,47) Linear(256,47) Linear(256,47) Linear(256,47)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Soprano          Alto          Tenor           Bass</a:t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/>
            </a:r>
          </a:p>
          <a:p>
            <a:r>
              <a:rPr sz="1400">
                <a:solidFill>
                  <a:srgbClr val="1A1A2E"/>
                </a:solidFill>
                <a:latin typeface="Courier New"/>
              </a:rPr>
              <a:t>           logits: (batch, T, 4, 47)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109728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Key Details: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Teacher forcing during training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Autoregressive sampling at inference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Temperature 0.9 for main deliverable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Early stopped at epoch 28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Best checkpoint at epoch 18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2C2C2C"/>
                </a:solidFill>
                <a:latin typeface="Calibri"/>
              </a:rPr>
              <a:t>  Parameters: ~1.1M total</a:t>
            </a:r>
          </a:p>
        </p:txBody>
      </p:sp>
      <p:pic>
        <p:nvPicPr>
          <p:cNvPr id="6" name="Picture 5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4389120"/>
            <a:ext cx="484632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Task 1: Evaluation Framework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11460174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2692"/>
                <a:gridCol w="4443741"/>
                <a:gridCol w="4443741"/>
              </a:tblGrid>
              <a:tr h="70104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Test Perplexity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Statistical fit (next-token prediction quality)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Lower = model predicts Bach better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Pitch-Class KL Divergence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Note frequency distribution vs real Bach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Checks if generated music uses Bach's pitch palette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Interval L1 Distance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Melodic jump pattern vs real Bach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Checks if stepwise/leapwise motion is realistic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Voice Range Violations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% notes outside historical SATB ranges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Basic constraint: Soprano should not go below Alto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Parallel 5ths/Octaves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Voice-leading rule violations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Music theory constraint Bach almost never violates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65760" y="5440680"/>
            <a:ext cx="11460175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39C12"/>
                </a:solidFill>
                <a:latin typeface="Calibri"/>
              </a:rPr>
              <a:t>Core question: Does better perplexity = better music?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Task 1: Results and Discussion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713231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5684"/>
                <a:gridCol w="1465545"/>
                <a:gridCol w="1465545"/>
                <a:gridCol w="1465545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Markov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LSTM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Real Bach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Test Perplexity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1.97 *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Pitch-Class KL (to real)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0.176 *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0.198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Interval L1 (to real)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0.121 *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0.127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Voice Range Violations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0.09%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0.01% *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Parallel 5ths/Octaves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11.5% *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18.1%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val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097280"/>
            <a:ext cx="4419295" cy="2560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3794760"/>
            <a:ext cx="1146017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  LSTM wins on perplexity and voice range compliance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  Markov wins on distributional similarity and parallel motion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  The LSTM optimizes cross-entropy (statistical fit), not voice-leading rules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  Markov chain avoids parallel motion by mostly sustaining notes (77% unisons)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  Consistent with literature: BachBot reports comparable perplexity; Music Transformer achieves ~1.2 ppl with relative attention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3498DB"/>
                </a:solidFill>
                <a:latin typeface="Calibri"/>
              </a:rPr>
              <a:t>Task 4: Continuous Conditioned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060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55656E"/>
                </a:solidFill>
                <a:latin typeface="Calibri"/>
              </a:rPr>
              <a:t>Fine-tuning MusicGen on FMA Genre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1798167" y="3657600"/>
            <a:ext cx="2560320" cy="5943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98167" y="36576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Text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58487" y="3657600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656E"/>
                </a:solidFill>
                <a:latin typeface="Calibri"/>
              </a:rPr>
              <a:t>-&gt;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4815687" y="3657600"/>
            <a:ext cx="2560320" cy="59436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15687" y="36576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MusicGen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6007" y="3657600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656E"/>
                </a:solidFill>
                <a:latin typeface="Calibri"/>
              </a:rPr>
              <a:t>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33207" y="3657600"/>
            <a:ext cx="2560320" cy="594360"/>
          </a:xfrm>
          <a:prstGeom prst="rect">
            <a:avLst/>
          </a:prstGeom>
          <a:solidFill>
            <a:srgbClr val="1E8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3207" y="36576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30s Audio Clip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8056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1A1A2E"/>
                </a:solidFill>
                <a:latin typeface="Calibri"/>
              </a:rPr>
              <a:t>"upbeat electronic music with synthesizers"  -&gt;  [waveform]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Task 4 Dataset: FMA-Small (Free Music Archive)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59435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8581"/>
                <a:gridCol w="3925018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HuggingFace (rpmon/fma-genre-classification)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Total tracks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8,000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Per genre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1,000 (perfectly balanced)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Clip duration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30 seconds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Sample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22,050 Hz mono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Total audio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~67 hours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License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Creative Commons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Defferrard et al. 2017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0" y="10972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498DB"/>
                </a:solidFill>
                <a:latin typeface="Calibri"/>
              </a:rPr>
              <a:t>8 Genres: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1600200"/>
            <a:ext cx="164592" cy="1828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12280" y="15087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2C2C"/>
                </a:solidFill>
                <a:latin typeface="Calibri"/>
              </a:rPr>
              <a:t>Hip-Hop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984248"/>
            <a:ext cx="164592" cy="1828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89280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2C2C"/>
                </a:solidFill>
                <a:latin typeface="Calibri"/>
              </a:rPr>
              <a:t>Pop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368296"/>
            <a:ext cx="164592" cy="1828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27685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2C2C"/>
                </a:solidFill>
                <a:latin typeface="Calibri"/>
              </a:rPr>
              <a:t>Folk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52344"/>
            <a:ext cx="164592" cy="1828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2660904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2C2C"/>
                </a:solidFill>
                <a:latin typeface="Calibri"/>
              </a:rPr>
              <a:t>Experimental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136392"/>
            <a:ext cx="164592" cy="1828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3044952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2C2C"/>
                </a:solidFill>
                <a:latin typeface="Calibri"/>
              </a:rPr>
              <a:t>Rock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520440"/>
            <a:ext cx="164592" cy="1828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342900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2C2C"/>
                </a:solidFill>
                <a:latin typeface="Calibri"/>
              </a:rPr>
              <a:t>International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3904488"/>
            <a:ext cx="164592" cy="1828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381304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2C2C"/>
                </a:solidFill>
                <a:latin typeface="Calibri"/>
              </a:rPr>
              <a:t>Electronic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288536"/>
            <a:ext cx="164592" cy="1828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419709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2C2C"/>
                </a:solidFill>
                <a:latin typeface="Calibri"/>
              </a:rPr>
              <a:t>Instrumental</a:t>
            </a:r>
          </a:p>
        </p:txBody>
      </p:sp>
      <p:pic>
        <p:nvPicPr>
          <p:cNvPr id="22" name="Picture 21" descr="eda_fma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097280"/>
            <a:ext cx="2651760" cy="356616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365760" y="4800600"/>
            <a:ext cx="11460175" cy="685800"/>
          </a:xfrm>
          <a:prstGeom prst="rect">
            <a:avLst/>
          </a:prstGeom>
          <a:solidFill>
            <a:srgbClr val="EBF5FB"/>
          </a:solidFill>
          <a:ln w="1905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4632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498DB"/>
                </a:solidFill>
                <a:latin typeface="Calibri"/>
              </a:rPr>
              <a:t>Fine-tuning subset: 4 genres (Hip-Hop, Folk, Electronic, Rock)   |   20 tracks/genre = 72 train + 8 val pairs (smoke test on Colab T4)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Why Fine-tune Instead of Training from Scratch?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11460174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4011061"/>
                <a:gridCol w="458407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Calibri"/>
                        </a:rPr>
                        <a:t>Train from Scratch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  <a:latin typeface="Calibri"/>
                        </a:rPr>
                        <a:t>Fine-tune MusicGen (Ours)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Audio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Noise/blur without days of training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Studio-quality audio (pretrained)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Data needed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100s of hours required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~67 hrs (FMA-small)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GPU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Weeks on large clusters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~4-8 hours (Colab T4)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Output variety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Usually one dominant mode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8 distinct genres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Trains own weights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C2C2C"/>
                          </a:solidFill>
                          <a:latin typeface="Calibri"/>
                        </a:rPr>
                        <a:t>Yes (decoder fine-tuning)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65760" y="4754880"/>
            <a:ext cx="11460175" cy="731520"/>
          </a:xfrm>
          <a:prstGeom prst="rect">
            <a:avLst/>
          </a:prstGeom>
          <a:solidFill>
            <a:srgbClr val="EBF5FB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809744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700" b="0">
                <a:solidFill>
                  <a:srgbClr val="3498DB"/>
                </a:solidFill>
                <a:latin typeface="Calibri"/>
              </a:rPr>
              <a:t>Fine-tuning satisfies the 'train your own weights' requirement.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3498DB"/>
                </a:solidFill>
                <a:latin typeface="Calibri"/>
              </a:rPr>
              <a:t>We update the transformer decoder parameters on our genre-labeled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MusicGen Architecture  (Copet et al., NeurIPS 2023)</a:t>
            </a:r>
          </a:p>
        </p:txBody>
      </p:sp>
      <p:pic>
        <p:nvPicPr>
          <p:cNvPr id="4" name="Picture 3" descr="eda_musicgen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5943600" cy="5303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0" y="1577340"/>
            <a:ext cx="5303520" cy="685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62306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Text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9431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"upbeat electronic..."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5773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FROZEN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6314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656E"/>
                </a:solidFill>
                <a:latin typeface="Calibri"/>
              </a:rPr>
              <a:t>v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446020"/>
            <a:ext cx="5303520" cy="68580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4917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T5 Text Encoder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8117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T5-base, 768-dim embeddings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4460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FROZEN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13182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656E"/>
                </a:solidFill>
                <a:latin typeface="Calibri"/>
              </a:rPr>
              <a:t>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3314700"/>
            <a:ext cx="5303520" cy="685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33604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Transformer Decoder 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6804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300M params, 24 layers, h=1024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3147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FINE-TUNED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0005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656E"/>
                </a:solidFill>
                <a:latin typeface="Calibri"/>
              </a:rPr>
              <a:t>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183380"/>
            <a:ext cx="5303520" cy="685800"/>
          </a:xfrm>
          <a:prstGeom prst="rect">
            <a:avLst/>
          </a:prstGeom>
          <a:solidFill>
            <a:srgbClr val="1E8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2291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EnCodec Decoder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5491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32kHz, 4 codebooks, size 2048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1833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FROZEN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86918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656E"/>
                </a:solidFill>
                <a:latin typeface="Calibri"/>
              </a:rPr>
              <a:t>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5052060"/>
            <a:ext cx="5303520" cy="6858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50977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Audio 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4178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32kHz waveform, 30 seconds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0462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74C3C"/>
                </a:solidFill>
                <a:latin typeface="Calibri"/>
              </a:rPr>
              <a:t>Only the Transformer Decoder is fine-tuned on FMA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MusicGen Fine-tuning: Training Summary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594359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4021"/>
                <a:gridCol w="3649578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Base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facebook/musicgen-small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Training data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72 pairs (4 genres x 18 tracks)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Validation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8 pairs (4 genres x 2 tracks)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Learning rate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1e-4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Total steps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GPU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Colab T4 (16 GB VRAM)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Training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8.13 -&gt; 7.09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Validation loss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7.34 -&gt; 7.21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t4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333695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257800"/>
            <a:ext cx="114601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656E"/>
                </a:solidFill>
                <a:latin typeface="Calibri"/>
              </a:rPr>
              <a:t>Smoke test only. A full run (800 tracks, 25 epochs) would produce stronger genre specificity.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Task 4: Evaluation via Genre Consistency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723747" y="1234440"/>
            <a:ext cx="2377440" cy="914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747" y="12344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Generate 30s audio
from text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1187" y="1234440"/>
            <a:ext cx="411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656E"/>
                </a:solidFill>
                <a:latin typeface="Calibri"/>
              </a:rPr>
              <a:t>-&gt;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3512667" y="1234440"/>
            <a:ext cx="2377440" cy="91440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12667" y="12344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Extract MFCC
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0107" y="1234440"/>
            <a:ext cx="411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656E"/>
                </a:solidFill>
                <a:latin typeface="Calibri"/>
              </a:rPr>
              <a:t>-&gt;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1234440"/>
            <a:ext cx="2377440" cy="914400"/>
          </a:xfrm>
          <a:prstGeom prst="rect">
            <a:avLst/>
          </a:prstGeom>
          <a:solidFill>
            <a:srgbClr val="1E8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1587" y="12344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SVM genre
classifier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79027" y="1234440"/>
            <a:ext cx="411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656E"/>
                </a:solidFill>
                <a:latin typeface="Calibri"/>
              </a:rPr>
              <a:t>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90507" y="1234440"/>
            <a:ext cx="2377440" cy="914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0507" y="12344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Compare to
target genre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377440"/>
            <a:ext cx="7132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900" b="0">
                <a:solidFill>
                  <a:srgbClr val="2C2C2C"/>
                </a:solidFill>
                <a:latin typeface="Calibri"/>
              </a:rPr>
              <a:t>  Metric: Genre classifier accuracy on generated audio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2C2C2C"/>
                </a:solidFill>
                <a:latin typeface="Calibri"/>
              </a:rPr>
              <a:t>  Baseline: Pretrained MusicGen (no fine-tuning)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2C2C2C"/>
                </a:solidFill>
                <a:latin typeface="Calibri"/>
              </a:rPr>
              <a:t>  Our model: Fine-tuned MusicGen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2C2C2C"/>
                </a:solidFill>
                <a:latin typeface="Calibri"/>
              </a:rPr>
              <a:t>  Test set: 1 sample per genre, 4 genres total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2377440"/>
            <a:ext cx="4297680" cy="2286000"/>
          </a:xfrm>
          <a:prstGeom prst="rect">
            <a:avLst/>
          </a:prstGeom>
          <a:solidFill>
            <a:srgbClr val="FDF2CC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20" y="24688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C12"/>
                </a:solidFill>
                <a:latin typeface="Calibri"/>
              </a:rPr>
              <a:t>Why not Frechet Audio Distance (FAD)?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2880360"/>
            <a:ext cx="40233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500" b="0">
                <a:solidFill>
                  <a:srgbClr val="2C2C2C"/>
                </a:solidFill>
                <a:latin typeface="Calibri"/>
              </a:rPr>
              <a:t>Requires pretrained VGGish or similar model.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2C2C2C"/>
                </a:solidFill>
                <a:latin typeface="Calibri"/>
              </a:rPr>
              <a:t>Not set up within project timeline.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2C2C2C"/>
                </a:solidFill>
                <a:latin typeface="Calibri"/>
              </a:rPr>
              <a:t>Genre accuracy is more interpretable.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709160"/>
            <a:ext cx="114601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656E"/>
                </a:solidFill>
                <a:latin typeface="Calibri"/>
              </a:rPr>
              <a:t>SVM classifier trained on MFCC features from real FMA tracks (not the generated audio)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Task 4: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640080"/>
          </a:xfrm>
          <a:prstGeom prst="rect">
            <a:avLst/>
          </a:prstGeom>
          <a:solidFill>
            <a:srgbClr val="EBF5FB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498DB"/>
                </a:solidFill>
                <a:latin typeface="Calibri"/>
              </a:rPr>
              <a:t>Genre Accuracy:  25% (pretrained)  -&gt;  75% (fine-tuned)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28800"/>
          <a:ext cx="713231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8902"/>
                <a:gridCol w="2717074"/>
                <a:gridCol w="1698171"/>
                <a:gridCol w="1698171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Genre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Pretrained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Fine-tuned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C2C2C"/>
                          </a:solidFill>
                          <a:latin typeface="Calibri"/>
                        </a:rPr>
                        <a:t>Hip-Hop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2C2C"/>
                          </a:solidFill>
                          <a:latin typeface="Calibri"/>
                        </a:rPr>
                        <a:t>hip hop music with beats and rhythm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2C2C"/>
                          </a:solidFill>
                          <a:latin typeface="Calibri"/>
                        </a:rPr>
                        <a:t>Electronic (87%)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2C2C"/>
                          </a:solidFill>
                          <a:latin typeface="Calibri"/>
                        </a:rPr>
                        <a:t>Electronic (97%)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C2C2C"/>
                          </a:solidFill>
                          <a:latin typeface="Calibri"/>
                        </a:rPr>
                        <a:t>Folk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2C2C"/>
                          </a:solidFill>
                          <a:latin typeface="Calibri"/>
                        </a:rPr>
                        <a:t>acoustic folk music with guitar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2C2C"/>
                          </a:solidFill>
                          <a:latin typeface="Calibri"/>
                        </a:rPr>
                        <a:t>Folk (100%)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2C2C"/>
                          </a:solidFill>
                          <a:latin typeface="Calibri"/>
                        </a:rPr>
                        <a:t>Folk (100%)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C2C2C"/>
                          </a:solidFill>
                          <a:latin typeface="Calibri"/>
                        </a:rPr>
                        <a:t>Electronic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2C2C"/>
                          </a:solidFill>
                          <a:latin typeface="Calibri"/>
                        </a:rPr>
                        <a:t>electronic music with synthesizers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2C2C"/>
                          </a:solidFill>
                          <a:latin typeface="Calibri"/>
                        </a:rPr>
                        <a:t>Folk (100%)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2C2C"/>
                          </a:solidFill>
                          <a:latin typeface="Calibri"/>
                        </a:rPr>
                        <a:t>Electronic (100%)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C2C2C"/>
                          </a:solidFill>
                          <a:latin typeface="Calibri"/>
                        </a:rPr>
                        <a:t>Rock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2C2C"/>
                          </a:solidFill>
                          <a:latin typeface="Calibri"/>
                        </a:rPr>
                        <a:t>energetic rock music with electric guitar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2C2C"/>
                          </a:solidFill>
                          <a:latin typeface="Calibri"/>
                        </a:rPr>
                        <a:t>Folk (100%)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2C2C"/>
                          </a:solidFill>
                          <a:latin typeface="Calibri"/>
                        </a:rPr>
                        <a:t>Rock (100%)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eval_task4_genre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4419295" cy="2194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4160520"/>
            <a:ext cx="1146017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  Pretrained model defaults to Folk-like acoustic textures for most prompts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  Fine-tuning teaches genre-specific audio characteristics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  Hip-Hop misclassified as Electronic: hip-hop production often uses synthesized beats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  Limitation: only 4 test samples (1 per genre), no confidence intervals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Related Work: Symbolic Music Generation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777239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1476"/>
                <a:gridCol w="1513210"/>
                <a:gridCol w="1375646"/>
                <a:gridCol w="2201033"/>
                <a:gridCol w="2201033"/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Key Contribution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Relation to Ours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2005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Allan &amp; Williams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HMM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Classic baseline, BIC model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Our Markov chain is similar but simpler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DeepBach (Hadjeres)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Gibbs + LSTM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Steerable generation, fix any voice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Explicit harmonic constraints we lack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BachBot (Liang)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LSTM seq2seq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Turing test: fooled 1/3 listeners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Most similar architecture to 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Music Transformer (Huang)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Transformer + rel. attn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Best perplexity (~1.2)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Shows headroom above our 1.97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BacHMMachine (Hahn)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Theory-guided HMM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Interpretable chord transitions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Music theory as model constraint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t1_related_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0"/>
            <a:ext cx="3779215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892040"/>
            <a:ext cx="114601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656E"/>
                </a:solidFill>
                <a:latin typeface="Calibri"/>
              </a:rPr>
              <a:t>Our LSTM is closest to BachBot. We explored the tension between statistical fit and musical quality rather than aiming for SOTA perplexity.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Related Work: Continuous Audio Generation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7772399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8160"/>
                <a:gridCol w="2072640"/>
                <a:gridCol w="1850571"/>
                <a:gridCol w="3331028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Key Contribution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FMA Dataset (Defferrard)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106K tracks, 161 genres, CC licensed benchmark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MusicGen (Copet, NeurIPS)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Single-stage AR LM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Efficient codebook interleaving -- our base model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MusicLM (Agostinelli, Google)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Hierarchical audio 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Semantic + acoustic token hierarchy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AudioCraft (Meta)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Open-source framework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pip install audiocraft, democratized audio gen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Genre Fine-tuning (IJCRT)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MusicGen-small fine-tuned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Same FMA genre approach as 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t4_related_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0"/>
            <a:ext cx="3779215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709160"/>
            <a:ext cx="114601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656E"/>
                </a:solidFill>
                <a:latin typeface="Calibri"/>
              </a:rPr>
              <a:t>Our contribution: side-by-side comparison of symbolic and continuous generation, showing how the same goal plays out across two representation spaces.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Symbolic vs Continuous: Two Paradigms Compared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11460173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8613"/>
                <a:gridCol w="4365780"/>
                <a:gridCol w="4365780"/>
              </a:tblGrid>
              <a:tr h="5588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Task 1: Symbolic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Task 4: Continuous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Representation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MIDI tokens (47-dim vocab)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Raw audio waveform (32kHz)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Model size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1.1M parameters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300M parameters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Training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368 chorales (~15 min audio equiv.)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8,000 tracks (~67 hours)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Training time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Minutes (CPU)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Hours (GPU)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Evaluation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5 precise metrics (perplexity, KL...)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Genre classifier accuracy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Output quality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Structured but "mechanical"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Perceptually realistic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Interpretability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High (inspect individual notes/voices)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Low (raw waveform)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Key tension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Statistical fit vs music theory rules</a:t>
                      </a:r>
                    </a:p>
                  </a:txBody>
                  <a:tcPr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C2C2C"/>
                          </a:solidFill>
                          <a:latin typeface="Calibri"/>
                        </a:rPr>
                        <a:t>Generic quality vs genre specificity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77840" cy="1828800"/>
          </a:xfrm>
          <a:prstGeom prst="rect">
            <a:avLst/>
          </a:prstGeom>
          <a:solidFill>
            <a:srgbClr val="FDEDEC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4C3C"/>
                </a:solidFill>
                <a:latin typeface="Calibri"/>
              </a:rPr>
              <a:t>Task 1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  LSTM achieves 1.97 perplexity on JSB Chorales</a:t>
            </a:r>
          </a:p>
          <a:p>
            <a:pPr algn="l">
              <a:spcBef>
                <a:spcPts val="5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  1.3x improvement over bigram Markov baseline</a:t>
            </a:r>
          </a:p>
          <a:p>
            <a:pPr algn="l">
              <a:spcBef>
                <a:spcPts val="5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  But more parallel 5ths/octaves (18.1% vs 11.5%)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097280"/>
            <a:ext cx="5577840" cy="1828800"/>
          </a:xfrm>
          <a:prstGeom prst="rect">
            <a:avLst/>
          </a:prstGeom>
          <a:solidFill>
            <a:srgbClr val="EBF5FB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1430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498DB"/>
                </a:solidFill>
                <a:latin typeface="Calibri"/>
              </a:rPr>
              <a:t>Task 4 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60020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  Fine-tuning improves genre accuracy: 25% -&gt; 75%</a:t>
            </a:r>
          </a:p>
          <a:p>
            <a:pPr algn="l">
              <a:spcBef>
                <a:spcPts val="5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  3/4 genres correctly classified after fine-tuning</a:t>
            </a:r>
          </a:p>
          <a:p>
            <a:pPr algn="l">
              <a:spcBef>
                <a:spcPts val="5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  Proof-of-concept with only 72 training samples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2E"/>
                </a:solidFill>
                <a:latin typeface="Calibri"/>
              </a:rPr>
              <a:t>Key 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611880"/>
            <a:ext cx="1146017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900" b="0">
                <a:solidFill>
                  <a:srgbClr val="2C2C2C"/>
                </a:solidFill>
                <a:latin typeface="Calibri"/>
              </a:rPr>
              <a:t>1.  Statistical objectives (cross-entropy) do not guarantee musical quality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2C2C2C"/>
                </a:solidFill>
                <a:latin typeface="Calibri"/>
              </a:rPr>
              <a:t>2.  Fine-tuning large pretrained models is practical and effective, even with limited data and compute</a:t>
            </a:r>
          </a:p>
          <a:p>
            <a:pPr algn="l">
              <a:spcBef>
                <a:spcPts val="800"/>
              </a:spcBef>
            </a:pPr>
            <a:r>
              <a:rPr sz="1900" b="0">
                <a:solidFill>
                  <a:srgbClr val="2C2C2C"/>
                </a:solidFill>
                <a:latin typeface="Calibri"/>
              </a:rPr>
              <a:t>3.  The choice between symbolic and continuous representations fundamentally shapes what you can evaluate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2E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55656E"/>
                </a:solidFill>
                <a:latin typeface="Calibri"/>
              </a:rP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4206240"/>
            <a:ext cx="5760720" cy="502920"/>
          </a:xfrm>
          <a:prstGeom prst="rect">
            <a:avLst/>
          </a:prstGeom>
          <a:solidFill>
            <a:srgbClr val="E8E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420624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1A2E"/>
                </a:solidFill>
                <a:latin typeface="Calibri"/>
              </a:rPr>
              <a:t>Code and notebook:  workbook.ipynb  |  workbook.html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Generated Music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77840" cy="4114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Task 1 -- Symbolic (MIDI)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1.  Real Bach chorale (reference): sample_chorale_real.mid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2.  Bigram Markov Chain: markov_chorale.mid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2C2C2C"/>
                </a:solidFill>
                <a:latin typeface="Calibri"/>
              </a:rPr>
              <a:t>3.  LSTM (temperature 0.9): symbolic_unconditioned.mid  [main deliverable]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097280"/>
            <a:ext cx="5577840" cy="4114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Task 4 -- Continuous (Audio)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394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600" b="0">
                <a:solidFill>
                  <a:srgbClr val="2C2C2C"/>
                </a:solidFill>
                <a:latin typeface="Calibri"/>
              </a:rPr>
              <a:t>4.  Pretrained, Electronic: generated_audio/electronic_generated.mp3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2C2C2C"/>
                </a:solidFill>
                <a:latin typeface="Calibri"/>
              </a:rPr>
              <a:t>5.  Fine-tuned, Electronic: generated_audio_finetuned/electronic_generated.mp3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2C2C2C"/>
                </a:solidFill>
                <a:latin typeface="Calibri"/>
              </a:rPr>
              <a:t>6.  Pretrained, Folk: generated_audio/folk_generated.mp3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2C2C2C"/>
                </a:solidFill>
                <a:latin typeface="Calibri"/>
              </a:rPr>
              <a:t>7.  Fine-tuned, Folk: generated_audio_finetuned/folk_generated.mp3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2C2C2C"/>
                </a:solidFill>
                <a:latin typeface="Calibri"/>
              </a:rPr>
              <a:t>8.  Main deliverable: continuous_conditioned.mp3 (Hip-Hop prompt)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846319"/>
            <a:ext cx="11460175" cy="10972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5010911"/>
            <a:ext cx="11460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5656E"/>
                </a:solidFill>
                <a:latin typeface="Calibri"/>
              </a:rPr>
              <a:t>Audio plays over this slide -- not counted toward the 20-minute time limit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