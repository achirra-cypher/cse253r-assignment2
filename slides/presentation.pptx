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881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1A1A2E"/>
                </a:solidFill>
                <a:latin typeface="Calibri"/>
              </a:rPr>
              <a:t>Music Generation: Symbolic &amp; Continuous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92608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55656E"/>
                </a:solidFill>
                <a:latin typeface="Calibri"/>
              </a:rPr>
              <a:t>CSE 253R  --  Assignment 2</a:t>
            </a:r>
          </a:p>
        </p:txBody>
      </p:sp>
      <p:sp>
        <p:nvSpPr>
          <p:cNvPr id="6" name="Rectangle 5"/>
          <p:cNvSpPr/>
          <p:nvPr/>
        </p:nvSpPr>
        <p:spPr>
          <a:xfrm>
            <a:off x="1020927" y="3840480"/>
            <a:ext cx="4937760" cy="50292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0927" y="384048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Task 1: Symbolic Unconditioned</a:t>
            </a:r>
          </a:p>
        </p:txBody>
      </p:sp>
      <p:sp>
        <p:nvSpPr>
          <p:cNvPr id="8" name="Rectangle 7"/>
          <p:cNvSpPr/>
          <p:nvPr/>
        </p:nvSpPr>
        <p:spPr>
          <a:xfrm>
            <a:off x="6233007" y="3840480"/>
            <a:ext cx="4937760" cy="50292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33007" y="384048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Task 4: Continuous Conditioned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26364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55656E"/>
                </a:solidFill>
                <a:latin typeface="Calibri"/>
              </a:rPr>
              <a:t>Priyansh Parikh  ·  Jeevan N V  ·  Narain Shriraam MS  ·  Akhil Teja Chirra  |  Spring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What We Built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5486400" cy="4297680"/>
          </a:xfrm>
          <a:prstGeom prst="rect">
            <a:avLst/>
          </a:prstGeom>
          <a:solidFill>
            <a:srgbClr val="FDEDEC"/>
          </a:solidFill>
          <a:ln w="254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8872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E74C3C"/>
                </a:solidFill>
                <a:latin typeface="Calibri"/>
              </a:rPr>
              <a:t>Task 1: Symbolic Unconditioned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783080"/>
            <a:ext cx="52120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500"/>
              </a:spcBef>
            </a:pPr>
            <a:r>
              <a:rPr sz="1800" b="0">
                <a:solidFill>
                  <a:srgbClr val="2C2C2C"/>
                </a:solidFill>
                <a:latin typeface="Calibri"/>
              </a:rPr>
              <a:t>  Learn p(Soprano, Alto, Tenor, Bass) on Bach chorales</a:t>
            </a:r>
          </a:p>
          <a:p>
            <a:pPr algn="l">
              <a:spcBef>
                <a:spcPts val="500"/>
              </a:spcBef>
            </a:pPr>
            <a:r>
              <a:rPr sz="1800" b="0">
                <a:solidFill>
                  <a:srgbClr val="2C2C2C"/>
                </a:solidFill>
                <a:latin typeface="Calibri"/>
              </a:rPr>
              <a:t>  Generate new 4-part MIDI harmony from scratch</a:t>
            </a:r>
          </a:p>
          <a:p>
            <a:pPr algn="l">
              <a:spcBef>
                <a:spcPts val="500"/>
              </a:spcBef>
            </a:pPr>
            <a:r>
              <a:rPr sz="1800" b="0">
                <a:solidFill>
                  <a:srgbClr val="2C2C2C"/>
                </a:solidFill>
                <a:latin typeface="Calibri"/>
              </a:rPr>
              <a:t>  Models: Bigram Markov Chain, 2-layer LSTM</a:t>
            </a:r>
          </a:p>
          <a:p>
            <a:pPr algn="l">
              <a:spcBef>
                <a:spcPts val="500"/>
              </a:spcBef>
            </a:pPr>
            <a:r>
              <a:rPr sz="1800" b="0">
                <a:solidFill>
                  <a:srgbClr val="2C2C2C"/>
                </a:solidFill>
                <a:latin typeface="Calibri"/>
              </a:rPr>
              <a:t>  Dataset: JSB Chorales (368 chorales, music21)</a:t>
            </a:r>
          </a:p>
          <a:p>
            <a:pPr algn="l">
              <a:spcBef>
                <a:spcPts val="500"/>
              </a:spcBef>
            </a:pPr>
            <a:r>
              <a:rPr sz="1800" b="0">
                <a:solidFill>
                  <a:srgbClr val="2C2C2C"/>
                </a:solidFill>
                <a:latin typeface="Calibri"/>
              </a:rPr>
              <a:t>  Output: symbolic_unconditioned.mid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097280"/>
            <a:ext cx="5486400" cy="4297680"/>
          </a:xfrm>
          <a:prstGeom prst="rect">
            <a:avLst/>
          </a:prstGeom>
          <a:solidFill>
            <a:srgbClr val="EBF5FB"/>
          </a:solidFill>
          <a:ln w="254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55080" y="118872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3498DB"/>
                </a:solidFill>
                <a:latin typeface="Calibri"/>
              </a:rPr>
              <a:t>Task 4: Continuous Conditioned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5080" y="1783080"/>
            <a:ext cx="52120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500"/>
              </a:spcBef>
            </a:pPr>
            <a:r>
              <a:rPr sz="1800" b="0">
                <a:solidFill>
                  <a:srgbClr val="2C2C2C"/>
                </a:solidFill>
                <a:latin typeface="Calibri"/>
              </a:rPr>
              <a:t>  Fine-tune MusicGen-small on genre-labeled audio</a:t>
            </a:r>
          </a:p>
          <a:p>
            <a:pPr algn="l">
              <a:spcBef>
                <a:spcPts val="500"/>
              </a:spcBef>
            </a:pPr>
            <a:r>
              <a:rPr sz="1800" b="0">
                <a:solidFill>
                  <a:srgbClr val="2C2C2C"/>
                </a:solidFill>
                <a:latin typeface="Calibri"/>
              </a:rPr>
              <a:t>  Generate 30s audio from text prompts</a:t>
            </a:r>
          </a:p>
          <a:p>
            <a:pPr algn="l">
              <a:spcBef>
                <a:spcPts val="500"/>
              </a:spcBef>
            </a:pPr>
            <a:r>
              <a:rPr sz="1800" b="0">
                <a:solidFill>
                  <a:srgbClr val="2C2C2C"/>
                </a:solidFill>
                <a:latin typeface="Calibri"/>
              </a:rPr>
              <a:t>  Model: MusicGen (300M params, Meta/AudioCraft)</a:t>
            </a:r>
          </a:p>
          <a:p>
            <a:pPr algn="l">
              <a:spcBef>
                <a:spcPts val="500"/>
              </a:spcBef>
            </a:pPr>
            <a:r>
              <a:rPr sz="1800" b="0">
                <a:solidFill>
                  <a:srgbClr val="2C2C2C"/>
                </a:solidFill>
                <a:latin typeface="Calibri"/>
              </a:rPr>
              <a:t>  Dataset: FMA-small (8,000 tracks, 8 genres)</a:t>
            </a:r>
          </a:p>
          <a:p>
            <a:pPr algn="l">
              <a:spcBef>
                <a:spcPts val="500"/>
              </a:spcBef>
            </a:pPr>
            <a:r>
              <a:rPr sz="1800" b="0">
                <a:solidFill>
                  <a:srgbClr val="2C2C2C"/>
                </a:solidFill>
                <a:latin typeface="Calibri"/>
              </a:rPr>
              <a:t>  Output: continuous_conditioned.mp3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5532120"/>
            <a:ext cx="11460175" cy="594360"/>
          </a:xfrm>
          <a:prstGeom prst="rect">
            <a:avLst/>
          </a:prstGeom>
          <a:solidFill>
            <a:srgbClr val="E8EA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5577840"/>
            <a:ext cx="111858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1A1A2E"/>
                </a:solidFill>
                <a:latin typeface="Calibri"/>
              </a:rPr>
              <a:t>Symbolic = interpretable, small data, rule-checkable.   Continuous = perceptually realistic, requires large pretrained model.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Task 1 Dataset: JSB Chorales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097280"/>
          <a:ext cx="5943599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8581"/>
                <a:gridCol w="3925018"/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Property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Value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2C2C2C"/>
                          </a:solidFill>
                          <a:latin typeface="Calibri"/>
                        </a:rPr>
                        <a:t>Source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2C2C2C"/>
                          </a:solidFill>
                          <a:latin typeface="Calibri"/>
                        </a:rPr>
                        <a:t>music21 built-in corpus (no download)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2C2C2C"/>
                          </a:solidFill>
                          <a:latin typeface="Calibri"/>
                        </a:rPr>
                        <a:t>Composer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2C2C2C"/>
                          </a:solidFill>
                          <a:latin typeface="Calibri"/>
                        </a:rPr>
                        <a:t>J.S. Bach (BWV 1-438)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2C2C2C"/>
                          </a:solidFill>
                          <a:latin typeface="Calibri"/>
                        </a:rPr>
                        <a:t>Chorales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2C2C2C"/>
                          </a:solidFill>
                          <a:latin typeface="Calibri"/>
                        </a:rPr>
                        <a:t>368 (4-part SATB only)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2C2C2C"/>
                          </a:solidFill>
                          <a:latin typeface="Calibri"/>
                        </a:rPr>
                        <a:t>Representation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2C2C2C"/>
                          </a:solidFill>
                          <a:latin typeface="Calibri"/>
                        </a:rPr>
                        <a:t>(T, 4) MIDI pitch matrix, 16th-note grid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2C2C2C"/>
                          </a:solidFill>
                          <a:latin typeface="Calibri"/>
                        </a:rPr>
                        <a:t>Vocabulary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2C2C2C"/>
                          </a:solidFill>
                          <a:latin typeface="Calibri"/>
                        </a:rPr>
                        <a:t>47 tokens (46 pitches + rest)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2C2C2C"/>
                          </a:solidFill>
                          <a:latin typeface="Calibri"/>
                        </a:rPr>
                        <a:t>Pitch range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2C2C2C"/>
                          </a:solidFill>
                          <a:latin typeface="Calibri"/>
                        </a:rPr>
                        <a:t>MIDI 36 (C2) to MIDI 81 (A5)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2C2C2C"/>
                          </a:solidFill>
                          <a:latin typeface="Calibri"/>
                        </a:rPr>
                        <a:t>Split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2C2C2C"/>
                          </a:solidFill>
                          <a:latin typeface="Calibri"/>
                        </a:rPr>
                        <a:t>296 train / 36 val / 36 test chorales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2C2C2C"/>
                          </a:solidFill>
                          <a:latin typeface="Calibri"/>
                        </a:rPr>
                        <a:t>Sequences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2C2C2C"/>
                          </a:solidFill>
                          <a:latin typeface="Calibri"/>
                        </a:rPr>
                        <a:t>2,845 train / 178 val / 190 test windows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2C2C2C"/>
                          </a:solidFill>
                          <a:latin typeface="Calibri"/>
                        </a:rPr>
                        <a:t>Window size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2C2C2C"/>
                          </a:solidFill>
                          <a:latin typeface="Calibri"/>
                        </a:rPr>
                        <a:t>64 steps = 16 beats = ~4 bars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5" name="Picture 4" descr="eda_piano_ro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097280"/>
            <a:ext cx="5425135" cy="4114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5303520"/>
            <a:ext cx="1146017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656E"/>
                </a:solidFill>
                <a:latin typeface="Calibri"/>
              </a:rPr>
              <a:t>Benchmark used in: DeepBach (Hadjeres 2017), BachBot (Liang 2017), Music Transformer (Huang 2019), BacHMMachine (Hahn 2021)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Task 1: Modeling Approach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5577840" cy="4114800"/>
          </a:xfrm>
          <a:prstGeom prst="rect">
            <a:avLst/>
          </a:prstGeom>
          <a:solidFill>
            <a:srgbClr val="FFFFFF"/>
          </a:solidFill>
          <a:ln w="19050">
            <a:solidFill>
              <a:srgbClr val="5565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5656E"/>
                </a:solidFill>
                <a:latin typeface="Calibri"/>
              </a:rPr>
              <a:t>BASELINE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5394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A1A2E"/>
                </a:solidFill>
                <a:latin typeface="Calibri"/>
              </a:rPr>
              <a:t>Bigram Markov Chain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103120"/>
            <a:ext cx="53035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500"/>
              </a:spcBef>
            </a:pPr>
            <a:r>
              <a:rPr sz="1800" b="0">
                <a:solidFill>
                  <a:srgbClr val="2C2C2C"/>
                </a:solidFill>
                <a:latin typeface="Calibri"/>
              </a:rPr>
              <a:t>  4 independent 47x47 transition matrices (one per voice)</a:t>
            </a:r>
          </a:p>
          <a:p>
            <a:pPr algn="l">
              <a:spcBef>
                <a:spcPts val="500"/>
              </a:spcBef>
            </a:pPr>
            <a:r>
              <a:rPr sz="1800" b="0">
                <a:solidFill>
                  <a:srgbClr val="2C2C2C"/>
                </a:solidFill>
                <a:latin typeface="Calibri"/>
              </a:rPr>
              <a:t>  Laplace (add-1) smoothing</a:t>
            </a:r>
          </a:p>
          <a:p>
            <a:pPr algn="l">
              <a:spcBef>
                <a:spcPts val="500"/>
              </a:spcBef>
            </a:pPr>
            <a:r>
              <a:rPr sz="1800" b="0">
                <a:solidFill>
                  <a:srgbClr val="2C2C2C"/>
                </a:solidFill>
                <a:latin typeface="Calibri"/>
              </a:rPr>
              <a:t>  Context: current timestep only</a:t>
            </a:r>
          </a:p>
          <a:p>
            <a:pPr algn="l">
              <a:spcBef>
                <a:spcPts val="500"/>
              </a:spcBef>
            </a:pPr>
            <a:r>
              <a:rPr sz="1800" b="0">
                <a:solidFill>
                  <a:srgbClr val="2C2C2C"/>
                </a:solidFill>
                <a:latin typeface="Calibri"/>
              </a:rPr>
              <a:t>  P(next | current) = (count + 1) / (sum + V)</a:t>
            </a:r>
          </a:p>
          <a:p>
            <a:pPr algn="l">
              <a:spcBef>
                <a:spcPts val="500"/>
              </a:spcBef>
            </a:pPr>
            <a:r>
              <a:rPr sz="1800" b="0">
                <a:solidFill>
                  <a:srgbClr val="2C2C2C"/>
                </a:solidFill>
                <a:latin typeface="Calibri"/>
              </a:rPr>
              <a:t/>
            </a:r>
          </a:p>
          <a:p>
            <a:pPr algn="l">
              <a:spcBef>
                <a:spcPts val="500"/>
              </a:spcBef>
            </a:pPr>
            <a:r>
              <a:rPr sz="1800" b="0">
                <a:solidFill>
                  <a:srgbClr val="2C2C2C"/>
                </a:solidFill>
                <a:latin typeface="Calibri"/>
              </a:rPr>
              <a:t>  Test Perplexity:  2.59</a:t>
            </a:r>
          </a:p>
        </p:txBody>
      </p:sp>
      <p:sp>
        <p:nvSpPr>
          <p:cNvPr id="8" name="Rectangle 7"/>
          <p:cNvSpPr/>
          <p:nvPr/>
        </p:nvSpPr>
        <p:spPr>
          <a:xfrm>
            <a:off x="6263640" y="1097280"/>
            <a:ext cx="5577840" cy="4114800"/>
          </a:xfrm>
          <a:prstGeom prst="rect">
            <a:avLst/>
          </a:prstGeom>
          <a:solidFill>
            <a:srgbClr val="FDEDEC"/>
          </a:solidFill>
          <a:ln w="254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14300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74C3C"/>
                </a:solidFill>
                <a:latin typeface="Calibri"/>
              </a:rPr>
              <a:t>OUR MODEL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1417320"/>
            <a:ext cx="5394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E74C3C"/>
                </a:solidFill>
                <a:latin typeface="Calibri"/>
              </a:rPr>
              <a:t>2-Layer LSTM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103120"/>
            <a:ext cx="53035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500"/>
              </a:spcBef>
            </a:pPr>
            <a:r>
              <a:rPr sz="1800" b="0">
                <a:solidFill>
                  <a:srgbClr val="2C2C2C"/>
                </a:solidFill>
                <a:latin typeface="Calibri"/>
              </a:rPr>
              <a:t>  Joint processing of all 4 voices</a:t>
            </a:r>
          </a:p>
          <a:p>
            <a:pPr algn="l">
              <a:spcBef>
                <a:spcPts val="500"/>
              </a:spcBef>
            </a:pPr>
            <a:r>
              <a:rPr sz="1800" b="0">
                <a:solidFill>
                  <a:srgbClr val="2C2C2C"/>
                </a:solidFill>
                <a:latin typeface="Calibri"/>
              </a:rPr>
              <a:t>  4 x Embedding(47, 64) concatenated -&gt; 256-dim input</a:t>
            </a:r>
          </a:p>
          <a:p>
            <a:pPr algn="l">
              <a:spcBef>
                <a:spcPts val="500"/>
              </a:spcBef>
            </a:pPr>
            <a:r>
              <a:rPr sz="1800" b="0">
                <a:solidFill>
                  <a:srgbClr val="2C2C2C"/>
                </a:solidFill>
                <a:latin typeface="Calibri"/>
              </a:rPr>
              <a:t>  LSTM(256, 256, 2 layers, dropout=0.3)</a:t>
            </a:r>
          </a:p>
          <a:p>
            <a:pPr algn="l">
              <a:spcBef>
                <a:spcPts val="500"/>
              </a:spcBef>
            </a:pPr>
            <a:r>
              <a:rPr sz="1800" b="0">
                <a:solidFill>
                  <a:srgbClr val="2C2C2C"/>
                </a:solidFill>
                <a:latin typeface="Calibri"/>
              </a:rPr>
              <a:t>  4 x Linear(256, 47) output heads</a:t>
            </a:r>
          </a:p>
          <a:p>
            <a:pPr algn="l">
              <a:spcBef>
                <a:spcPts val="500"/>
              </a:spcBef>
            </a:pPr>
            <a:r>
              <a:rPr sz="1800" b="0">
                <a:solidFill>
                  <a:srgbClr val="2C2C2C"/>
                </a:solidFill>
                <a:latin typeface="Calibri"/>
              </a:rPr>
              <a:t>  Parameters: 1.1M</a:t>
            </a:r>
          </a:p>
          <a:p>
            <a:pPr algn="l">
              <a:spcBef>
                <a:spcPts val="500"/>
              </a:spcBef>
            </a:pPr>
            <a:r>
              <a:rPr sz="1800" b="0">
                <a:solidFill>
                  <a:srgbClr val="2C2C2C"/>
                </a:solidFill>
                <a:latin typeface="Calibri"/>
              </a:rPr>
              <a:t/>
            </a:r>
          </a:p>
          <a:p>
            <a:pPr algn="l">
              <a:spcBef>
                <a:spcPts val="500"/>
              </a:spcBef>
            </a:pPr>
            <a:r>
              <a:rPr sz="1800" b="0">
                <a:solidFill>
                  <a:srgbClr val="2C2C2C"/>
                </a:solidFill>
                <a:latin typeface="Calibri"/>
              </a:rPr>
              <a:t>  Test Perplexity:  1.97  (1.3x improvement)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5349240"/>
            <a:ext cx="11460175" cy="502920"/>
          </a:xfrm>
          <a:prstGeom prst="rect">
            <a:avLst/>
          </a:prstGeom>
          <a:solidFill>
            <a:srgbClr val="E8EA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5394960"/>
            <a:ext cx="1118585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1A1A2E"/>
                </a:solidFill>
                <a:latin typeface="Calibri"/>
              </a:rPr>
              <a:t>Objective: Cross-entropy loss summed over 4 voices.   Training: Teacher forcing.   Generation: Autoregressive sampling with temperature.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LSTM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097280"/>
            <a:ext cx="658368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1A1A2E"/>
                </a:solidFill>
                <a:latin typeface="Courier New"/>
              </a:rPr>
              <a:t>Input: (batch, T, 4) token indices</a:t>
            </a:r>
          </a:p>
          <a:p>
            <a:r>
              <a:rPr sz="1400">
                <a:solidFill>
                  <a:srgbClr val="1A1A2E"/>
                </a:solidFill>
                <a:latin typeface="Courier New"/>
              </a:rPr>
              <a:t/>
            </a:r>
          </a:p>
          <a:p>
            <a:r>
              <a:rPr sz="1400">
                <a:solidFill>
                  <a:srgbClr val="1A1A2E"/>
                </a:solidFill>
                <a:latin typeface="Courier New"/>
              </a:rPr>
              <a:t>  Embed(47,64)   Embed(47,64)   Embed(47,64)   Embed(47,64)</a:t>
            </a:r>
          </a:p>
          <a:p>
            <a:r>
              <a:rPr sz="1400">
                <a:solidFill>
                  <a:srgbClr val="1A1A2E"/>
                </a:solidFill>
                <a:latin typeface="Courier New"/>
              </a:rPr>
              <a:t>   Soprano          Alto          Tenor           Bass</a:t>
            </a:r>
          </a:p>
          <a:p>
            <a:r>
              <a:rPr sz="1400">
                <a:solidFill>
                  <a:srgbClr val="1A1A2E"/>
                </a:solidFill>
                <a:latin typeface="Courier New"/>
              </a:rPr>
              <a:t/>
            </a:r>
          </a:p>
          <a:p>
            <a:r>
              <a:rPr sz="1400">
                <a:solidFill>
                  <a:srgbClr val="1A1A2E"/>
                </a:solidFill>
                <a:latin typeface="Courier New"/>
              </a:rPr>
              <a:t>              concatenate -&gt; (batch, T, 256)</a:t>
            </a:r>
          </a:p>
          <a:p>
            <a:r>
              <a:rPr sz="1400">
                <a:solidFill>
                  <a:srgbClr val="1A1A2E"/>
                </a:solidFill>
                <a:latin typeface="Courier New"/>
              </a:rPr>
              <a:t/>
            </a:r>
          </a:p>
          <a:p>
            <a:r>
              <a:rPr sz="1400">
                <a:solidFill>
                  <a:srgbClr val="1A1A2E"/>
                </a:solidFill>
                <a:latin typeface="Courier New"/>
              </a:rPr>
              <a:t>         LSTM(256 hidden, 2 layers, dropout=0.3)</a:t>
            </a:r>
          </a:p>
          <a:p>
            <a:r>
              <a:rPr sz="1400">
                <a:solidFill>
                  <a:srgbClr val="1A1A2E"/>
                </a:solidFill>
                <a:latin typeface="Courier New"/>
              </a:rPr>
              <a:t>                    (batch, T, 256)</a:t>
            </a:r>
          </a:p>
          <a:p>
            <a:r>
              <a:rPr sz="1400">
                <a:solidFill>
                  <a:srgbClr val="1A1A2E"/>
                </a:solidFill>
                <a:latin typeface="Courier New"/>
              </a:rPr>
              <a:t/>
            </a:r>
          </a:p>
          <a:p>
            <a:r>
              <a:rPr sz="1400">
                <a:solidFill>
                  <a:srgbClr val="1A1A2E"/>
                </a:solidFill>
                <a:latin typeface="Courier New"/>
              </a:rPr>
              <a:t>  Linear(256,47) Linear(256,47) Linear(256,47) Linear(256,47)</a:t>
            </a:r>
          </a:p>
          <a:p>
            <a:r>
              <a:rPr sz="1400">
                <a:solidFill>
                  <a:srgbClr val="1A1A2E"/>
                </a:solidFill>
                <a:latin typeface="Courier New"/>
              </a:rPr>
              <a:t>   Soprano          Alto          Tenor           Bass</a:t>
            </a:r>
          </a:p>
          <a:p>
            <a:r>
              <a:rPr sz="1400">
                <a:solidFill>
                  <a:srgbClr val="1A1A2E"/>
                </a:solidFill>
                <a:latin typeface="Courier New"/>
              </a:rPr>
              <a:t/>
            </a:r>
          </a:p>
          <a:p>
            <a:r>
              <a:rPr sz="1400">
                <a:solidFill>
                  <a:srgbClr val="1A1A2E"/>
                </a:solidFill>
                <a:latin typeface="Courier New"/>
              </a:rPr>
              <a:t>           logits: (batch, T, 4, 47)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0" y="1097280"/>
            <a:ext cx="4846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</a:pPr>
            <a:r>
              <a:rPr sz="1800" b="0">
                <a:solidFill>
                  <a:srgbClr val="2C2C2C"/>
                </a:solidFill>
                <a:latin typeface="Calibri"/>
              </a:rPr>
              <a:t>Key Details:</a:t>
            </a:r>
          </a:p>
          <a:p>
            <a:pPr algn="l">
              <a:spcBef>
                <a:spcPts val="600"/>
              </a:spcBef>
            </a:pPr>
            <a:r>
              <a:rPr sz="1800" b="0">
                <a:solidFill>
                  <a:srgbClr val="2C2C2C"/>
                </a:solidFill>
                <a:latin typeface="Calibri"/>
              </a:rPr>
              <a:t/>
            </a:r>
          </a:p>
          <a:p>
            <a:pPr algn="l">
              <a:spcBef>
                <a:spcPts val="600"/>
              </a:spcBef>
            </a:pPr>
            <a:r>
              <a:rPr sz="1800" b="0">
                <a:solidFill>
                  <a:srgbClr val="2C2C2C"/>
                </a:solidFill>
                <a:latin typeface="Calibri"/>
              </a:rPr>
              <a:t>  Teacher forcing during training</a:t>
            </a:r>
          </a:p>
          <a:p>
            <a:pPr algn="l">
              <a:spcBef>
                <a:spcPts val="600"/>
              </a:spcBef>
            </a:pPr>
            <a:r>
              <a:rPr sz="1800" b="0">
                <a:solidFill>
                  <a:srgbClr val="2C2C2C"/>
                </a:solidFill>
                <a:latin typeface="Calibri"/>
              </a:rPr>
              <a:t>  Autoregressive sampling at inference</a:t>
            </a:r>
          </a:p>
          <a:p>
            <a:pPr algn="l">
              <a:spcBef>
                <a:spcPts val="600"/>
              </a:spcBef>
            </a:pPr>
            <a:r>
              <a:rPr sz="1800" b="0">
                <a:solidFill>
                  <a:srgbClr val="2C2C2C"/>
                </a:solidFill>
                <a:latin typeface="Calibri"/>
              </a:rPr>
              <a:t>  Temperature 0.9 for main deliverable</a:t>
            </a:r>
          </a:p>
          <a:p>
            <a:pPr algn="l">
              <a:spcBef>
                <a:spcPts val="600"/>
              </a:spcBef>
            </a:pPr>
            <a:r>
              <a:rPr sz="1800" b="0">
                <a:solidFill>
                  <a:srgbClr val="2C2C2C"/>
                </a:solidFill>
                <a:latin typeface="Calibri"/>
              </a:rPr>
              <a:t>  Early stopped at epoch 28</a:t>
            </a:r>
          </a:p>
          <a:p>
            <a:pPr algn="l">
              <a:spcBef>
                <a:spcPts val="600"/>
              </a:spcBef>
            </a:pPr>
            <a:r>
              <a:rPr sz="1800" b="0">
                <a:solidFill>
                  <a:srgbClr val="2C2C2C"/>
                </a:solidFill>
                <a:latin typeface="Calibri"/>
              </a:rPr>
              <a:t>  Best checkpoint at epoch 18</a:t>
            </a:r>
          </a:p>
          <a:p>
            <a:pPr algn="l">
              <a:spcBef>
                <a:spcPts val="600"/>
              </a:spcBef>
            </a:pPr>
            <a:r>
              <a:rPr sz="1800" b="0">
                <a:solidFill>
                  <a:srgbClr val="2C2C2C"/>
                </a:solidFill>
                <a:latin typeface="Calibri"/>
              </a:rPr>
              <a:t>  Parameters: ~1.1M total</a:t>
            </a:r>
          </a:p>
        </p:txBody>
      </p:sp>
      <p:pic>
        <p:nvPicPr>
          <p:cNvPr id="6" name="Picture 5" descr="training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4389120"/>
            <a:ext cx="4846320" cy="26517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Task 1: Evaluation Framework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097280"/>
          <a:ext cx="11460174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72692"/>
                <a:gridCol w="4443741"/>
                <a:gridCol w="4443741"/>
              </a:tblGrid>
              <a:tr h="701040">
                <a:tc>
                  <a:txBody>
                    <a:bodyPr/>
                    <a:lstStyle/>
                    <a:p>
                      <a:pPr algn="ctr"/>
                      <a:r>
                        <a:rPr b="1" sz="1600">
                          <a:solidFill>
                            <a:srgbClr val="FFFFFF"/>
                          </a:solidFill>
                          <a:latin typeface="Calibri"/>
                        </a:rPr>
                        <a:t>Metric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600">
                          <a:solidFill>
                            <a:srgbClr val="FFFFFF"/>
                          </a:solidFill>
                          <a:latin typeface="Calibri"/>
                        </a:rPr>
                        <a:t>What It Measures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600">
                          <a:solidFill>
                            <a:srgbClr val="FFFFFF"/>
                          </a:solidFill>
                          <a:latin typeface="Calibri"/>
                        </a:rPr>
                        <a:t>Why It Matters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2C2C2C"/>
                          </a:solidFill>
                          <a:latin typeface="Calibri"/>
                        </a:rPr>
                        <a:t>Test Perplexity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2C2C2C"/>
                          </a:solidFill>
                          <a:latin typeface="Calibri"/>
                        </a:rPr>
                        <a:t>Statistical fit (next-token prediction quality)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2C2C2C"/>
                          </a:solidFill>
                          <a:latin typeface="Calibri"/>
                        </a:rPr>
                        <a:t>Lower = model predicts Bach better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2C2C2C"/>
                          </a:solidFill>
                          <a:latin typeface="Calibri"/>
                        </a:rPr>
                        <a:t>Pitch-Class KL Divergence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2C2C2C"/>
                          </a:solidFill>
                          <a:latin typeface="Calibri"/>
                        </a:rPr>
                        <a:t>Note frequency distribution vs real Bach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2C2C2C"/>
                          </a:solidFill>
                          <a:latin typeface="Calibri"/>
                        </a:rPr>
                        <a:t>Checks if generated music uses Bach's pitch palette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2C2C2C"/>
                          </a:solidFill>
                          <a:latin typeface="Calibri"/>
                        </a:rPr>
                        <a:t>Interval L1 Distance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2C2C2C"/>
                          </a:solidFill>
                          <a:latin typeface="Calibri"/>
                        </a:rPr>
                        <a:t>Melodic jump pattern vs real Bach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2C2C2C"/>
                          </a:solidFill>
                          <a:latin typeface="Calibri"/>
                        </a:rPr>
                        <a:t>Checks if stepwise/leapwise motion is realistic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2C2C2C"/>
                          </a:solidFill>
                          <a:latin typeface="Calibri"/>
                        </a:rPr>
                        <a:t>Voice Range Violations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2C2C2C"/>
                          </a:solidFill>
                          <a:latin typeface="Calibri"/>
                        </a:rPr>
                        <a:t>% notes outside historical SATB ranges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2C2C2C"/>
                          </a:solidFill>
                          <a:latin typeface="Calibri"/>
                        </a:rPr>
                        <a:t>Basic constraint: Soprano should not go below Alto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2C2C2C"/>
                          </a:solidFill>
                          <a:latin typeface="Calibri"/>
                        </a:rPr>
                        <a:t>Parallel 5ths/Octaves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2C2C2C"/>
                          </a:solidFill>
                          <a:latin typeface="Calibri"/>
                        </a:rPr>
                        <a:t>Voice-leading rule violations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2C2C2C"/>
                          </a:solidFill>
                          <a:latin typeface="Calibri"/>
                        </a:rPr>
                        <a:t>Music theory constraint Bach almost never violates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365760" y="5440680"/>
            <a:ext cx="11460175" cy="502920"/>
          </a:xfrm>
          <a:prstGeom prst="rect">
            <a:avLst/>
          </a:prstGeom>
          <a:solidFill>
            <a:srgbClr val="FFF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5486400"/>
            <a:ext cx="1109441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39C12"/>
                </a:solidFill>
                <a:latin typeface="Calibri"/>
              </a:rPr>
              <a:t>Core question: Does better perplexity = better music?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Task 1: Results and Discussion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097280"/>
          <a:ext cx="7132319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35684"/>
                <a:gridCol w="1465545"/>
                <a:gridCol w="1465545"/>
                <a:gridCol w="1465545"/>
              </a:tblGrid>
              <a:tr h="426720"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Metric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Markov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LSTM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Real Bach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2C2C2C"/>
                          </a:solidFill>
                          <a:latin typeface="Calibri"/>
                        </a:rPr>
                        <a:t>Test Perplexity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2C2C2C"/>
                          </a:solidFill>
                          <a:latin typeface="Calibri"/>
                        </a:rPr>
                        <a:t>2.59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2C2C2C"/>
                          </a:solidFill>
                          <a:latin typeface="Calibri"/>
                        </a:rPr>
                        <a:t>1.97 *</a:t>
                      </a:r>
                    </a:p>
                  </a:txBody>
                  <a:tcPr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2C2C2C"/>
                          </a:solidFill>
                          <a:latin typeface="Calibri"/>
                        </a:rPr>
                        <a:t>--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2C2C2C"/>
                          </a:solidFill>
                          <a:latin typeface="Calibri"/>
                        </a:rPr>
                        <a:t>Pitch-Class KL (to real)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2C2C2C"/>
                          </a:solidFill>
                          <a:latin typeface="Calibri"/>
                        </a:rPr>
                        <a:t>0.176 *</a:t>
                      </a:r>
                    </a:p>
                  </a:txBody>
                  <a:tcPr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2C2C2C"/>
                          </a:solidFill>
                          <a:latin typeface="Calibri"/>
                        </a:rPr>
                        <a:t>0.198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2C2C2C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2C2C2C"/>
                          </a:solidFill>
                          <a:latin typeface="Calibri"/>
                        </a:rPr>
                        <a:t>Interval L1 (to real)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2C2C2C"/>
                          </a:solidFill>
                          <a:latin typeface="Calibri"/>
                        </a:rPr>
                        <a:t>0.121 *</a:t>
                      </a:r>
                    </a:p>
                  </a:txBody>
                  <a:tcPr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2C2C2C"/>
                          </a:solidFill>
                          <a:latin typeface="Calibri"/>
                        </a:rPr>
                        <a:t>0.127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2C2C2C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2C2C2C"/>
                          </a:solidFill>
                          <a:latin typeface="Calibri"/>
                        </a:rPr>
                        <a:t>Voice Range Violations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2C2C2C"/>
                          </a:solidFill>
                          <a:latin typeface="Calibri"/>
                        </a:rPr>
                        <a:t>0.09%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2C2C2C"/>
                          </a:solidFill>
                          <a:latin typeface="Calibri"/>
                        </a:rPr>
                        <a:t>0.01% *</a:t>
                      </a:r>
                    </a:p>
                  </a:txBody>
                  <a:tcPr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2C2C2C"/>
                          </a:solidFill>
                          <a:latin typeface="Calibri"/>
                        </a:rPr>
                        <a:t>0%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2C2C2C"/>
                          </a:solidFill>
                          <a:latin typeface="Calibri"/>
                        </a:rPr>
                        <a:t>Parallel 5ths/Octaves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2C2C2C"/>
                          </a:solidFill>
                          <a:latin typeface="Calibri"/>
                        </a:rPr>
                        <a:t>11.5% *</a:t>
                      </a:r>
                    </a:p>
                  </a:txBody>
                  <a:tcPr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2C2C2C"/>
                          </a:solidFill>
                          <a:latin typeface="Calibri"/>
                        </a:rPr>
                        <a:t>18.1%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2C2C2C"/>
                          </a:solidFill>
                          <a:latin typeface="Calibri"/>
                        </a:rPr>
                        <a:t>3.0%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5" name="Picture 4" descr="eval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097280"/>
            <a:ext cx="4419295" cy="25603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3794760"/>
            <a:ext cx="1146017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</a:pPr>
            <a:r>
              <a:rPr sz="1700" b="0">
                <a:solidFill>
                  <a:srgbClr val="2C2C2C"/>
                </a:solidFill>
                <a:latin typeface="Calibri"/>
              </a:rPr>
              <a:t>  LSTM wins on perplexity and voice range compliance</a:t>
            </a:r>
          </a:p>
          <a:p>
            <a:pPr algn="l">
              <a:spcBef>
                <a:spcPts val="600"/>
              </a:spcBef>
            </a:pPr>
            <a:r>
              <a:rPr sz="1700" b="0">
                <a:solidFill>
                  <a:srgbClr val="2C2C2C"/>
                </a:solidFill>
                <a:latin typeface="Calibri"/>
              </a:rPr>
              <a:t>  Markov wins on distributional similarity and parallel motion</a:t>
            </a:r>
          </a:p>
          <a:p>
            <a:pPr algn="l">
              <a:spcBef>
                <a:spcPts val="600"/>
              </a:spcBef>
            </a:pPr>
            <a:r>
              <a:rPr sz="1700" b="0">
                <a:solidFill>
                  <a:srgbClr val="2C2C2C"/>
                </a:solidFill>
                <a:latin typeface="Calibri"/>
              </a:rPr>
              <a:t>  The LSTM optimizes cross-entropy (statistical fit), not voice-leading rules</a:t>
            </a:r>
          </a:p>
          <a:p>
            <a:pPr algn="l">
              <a:spcBef>
                <a:spcPts val="600"/>
              </a:spcBef>
            </a:pPr>
            <a:r>
              <a:rPr sz="1700" b="0">
                <a:solidFill>
                  <a:srgbClr val="2C2C2C"/>
                </a:solidFill>
                <a:latin typeface="Calibri"/>
              </a:rPr>
              <a:t>  Markov chain avoids parallel motion by mostly sustaining notes (77% unisons)</a:t>
            </a:r>
          </a:p>
          <a:p>
            <a:pPr algn="l">
              <a:spcBef>
                <a:spcPts val="600"/>
              </a:spcBef>
            </a:pPr>
            <a:r>
              <a:rPr sz="1700" b="0">
                <a:solidFill>
                  <a:srgbClr val="2C2C2C"/>
                </a:solidFill>
                <a:latin typeface="Calibri"/>
              </a:rPr>
              <a:t>  Consistent with literature: BachBot reports comparable perplexity; Music Transformer achieves ~1.2 ppl with relative attention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0881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3498DB"/>
                </a:solidFill>
                <a:latin typeface="Calibri"/>
              </a:rPr>
              <a:t>Task 4: Continuous Conditioned Generation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0604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55656E"/>
                </a:solidFill>
                <a:latin typeface="Calibri"/>
              </a:rPr>
              <a:t>Fine-tuning MusicGen on FMA Genre Data</a:t>
            </a:r>
          </a:p>
        </p:txBody>
      </p:sp>
      <p:sp>
        <p:nvSpPr>
          <p:cNvPr id="6" name="Rectangle 5"/>
          <p:cNvSpPr/>
          <p:nvPr/>
        </p:nvSpPr>
        <p:spPr>
          <a:xfrm>
            <a:off x="1798167" y="3657600"/>
            <a:ext cx="2560320" cy="59436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798167" y="365760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Text Prompt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58487" y="3657600"/>
            <a:ext cx="457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55656E"/>
                </a:solidFill>
                <a:latin typeface="Calibri"/>
              </a:rPr>
              <a:t>-&gt;</a:t>
            </a:r>
          </a:p>
        </p:txBody>
      </p:sp>
      <p:sp>
        <p:nvSpPr>
          <p:cNvPr id="9" name="Rectangle 8"/>
          <p:cNvSpPr/>
          <p:nvPr/>
        </p:nvSpPr>
        <p:spPr>
          <a:xfrm>
            <a:off x="4815687" y="3657600"/>
            <a:ext cx="2560320" cy="59436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15687" y="365760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MusicGen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76007" y="3657600"/>
            <a:ext cx="457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55656E"/>
                </a:solidFill>
                <a:latin typeface="Calibri"/>
              </a:rPr>
              <a:t>-&gt;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833207" y="3657600"/>
            <a:ext cx="2560320" cy="594360"/>
          </a:xfrm>
          <a:prstGeom prst="rect">
            <a:avLst/>
          </a:prstGeom>
          <a:solidFill>
            <a:srgbClr val="1E8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33207" y="365760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30s Audio Clip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480560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>
                <a:solidFill>
                  <a:srgbClr val="1A1A2E"/>
                </a:solidFill>
                <a:latin typeface="Calibri"/>
              </a:rPr>
              <a:t>"upbeat electronic music with synthesizers"  -&gt;  [waveform]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Task 4 Dataset: FMA-Small (Free Music Archive)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097280"/>
          <a:ext cx="5943599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8581"/>
                <a:gridCol w="3925018"/>
              </a:tblGrid>
              <a:tr h="396240"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Property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Value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2C2C2C"/>
                          </a:solidFill>
                          <a:latin typeface="Calibri"/>
                        </a:rPr>
                        <a:t>Source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2C2C2C"/>
                          </a:solidFill>
                          <a:latin typeface="Calibri"/>
                        </a:rPr>
                        <a:t>HuggingFace (rpmon/fma-genre-classification)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2C2C2C"/>
                          </a:solidFill>
                          <a:latin typeface="Calibri"/>
                        </a:rPr>
                        <a:t>Total tracks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2C2C2C"/>
                          </a:solidFill>
                          <a:latin typeface="Calibri"/>
                        </a:rPr>
                        <a:t>8,000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2C2C2C"/>
                          </a:solidFill>
                          <a:latin typeface="Calibri"/>
                        </a:rPr>
                        <a:t>Per genre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2C2C2C"/>
                          </a:solidFill>
                          <a:latin typeface="Calibri"/>
                        </a:rPr>
                        <a:t>1,000 (perfectly balanced)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2C2C2C"/>
                          </a:solidFill>
                          <a:latin typeface="Calibri"/>
                        </a:rPr>
                        <a:t>Clip duration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2C2C2C"/>
                          </a:solidFill>
                          <a:latin typeface="Calibri"/>
                        </a:rPr>
                        <a:t>30 seconds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2C2C2C"/>
                          </a:solidFill>
                          <a:latin typeface="Calibri"/>
                        </a:rPr>
                        <a:t>Sample rate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2C2C2C"/>
                          </a:solidFill>
                          <a:latin typeface="Calibri"/>
                        </a:rPr>
                        <a:t>22,050 Hz mono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2C2C2C"/>
                          </a:solidFill>
                          <a:latin typeface="Calibri"/>
                        </a:rPr>
                        <a:t>Total audio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2C2C2C"/>
                          </a:solidFill>
                          <a:latin typeface="Calibri"/>
                        </a:rPr>
                        <a:t>~67 hours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2C2C2C"/>
                          </a:solidFill>
                          <a:latin typeface="Calibri"/>
                        </a:rPr>
                        <a:t>License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2C2C2C"/>
                          </a:solidFill>
                          <a:latin typeface="Calibri"/>
                        </a:rPr>
                        <a:t>Creative Commons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2C2C2C"/>
                          </a:solidFill>
                          <a:latin typeface="Calibri"/>
                        </a:rPr>
                        <a:t>Reference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2C2C2C"/>
                          </a:solidFill>
                          <a:latin typeface="Calibri"/>
                        </a:rPr>
                        <a:t>Defferrard et al. 2017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583680" y="109728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3498DB"/>
                </a:solidFill>
                <a:latin typeface="Calibri"/>
              </a:rPr>
              <a:t>8 Genres: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0" y="1600200"/>
            <a:ext cx="164592" cy="18288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12280" y="1508760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2C2C2C"/>
                </a:solidFill>
                <a:latin typeface="Calibri"/>
              </a:rPr>
              <a:t>Hip-Hop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0" y="1984248"/>
            <a:ext cx="164592" cy="18288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12280" y="1892808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2C2C2C"/>
                </a:solidFill>
                <a:latin typeface="Calibri"/>
              </a:rPr>
              <a:t>Pop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0" y="2368296"/>
            <a:ext cx="164592" cy="18288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12280" y="2276856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2C2C2C"/>
                </a:solidFill>
                <a:latin typeface="Calibri"/>
              </a:rPr>
              <a:t>Folk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0" y="2752344"/>
            <a:ext cx="164592" cy="18288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12280" y="2660904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2C2C2C"/>
                </a:solidFill>
                <a:latin typeface="Calibri"/>
              </a:rPr>
              <a:t>Experimental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0" y="3136392"/>
            <a:ext cx="164592" cy="18288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12280" y="3044952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2C2C2C"/>
                </a:solidFill>
                <a:latin typeface="Calibri"/>
              </a:rPr>
              <a:t>Rock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0" y="3520440"/>
            <a:ext cx="164592" cy="18288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12280" y="3429000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2C2C2C"/>
                </a:solidFill>
                <a:latin typeface="Calibri"/>
              </a:rPr>
              <a:t>International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0" y="3904488"/>
            <a:ext cx="164592" cy="18288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12280" y="3813048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2C2C2C"/>
                </a:solidFill>
                <a:latin typeface="Calibri"/>
              </a:rPr>
              <a:t>Electronic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83680" y="4288536"/>
            <a:ext cx="164592" cy="18288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12280" y="4197096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2C2C2C"/>
                </a:solidFill>
                <a:latin typeface="Calibri"/>
              </a:rPr>
              <a:t>Instrumental</a:t>
            </a:r>
          </a:p>
        </p:txBody>
      </p:sp>
      <p:pic>
        <p:nvPicPr>
          <p:cNvPr id="22" name="Picture 21" descr="eda_fma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0" y="1097280"/>
            <a:ext cx="2651760" cy="3566160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365760" y="4800600"/>
            <a:ext cx="11460175" cy="685800"/>
          </a:xfrm>
          <a:prstGeom prst="rect">
            <a:avLst/>
          </a:prstGeom>
          <a:solidFill>
            <a:srgbClr val="EBF5FB"/>
          </a:solidFill>
          <a:ln w="1905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4846320"/>
            <a:ext cx="1109441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3498DB"/>
                </a:solidFill>
                <a:latin typeface="Calibri"/>
              </a:rPr>
              <a:t>Fine-tuning subset: 4 genres (Hip-Hop, Folk, Electronic, Rock)   |   20 tracks/genre = 72 train + 8 val pairs (smoke test on Colab T4)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Why Fine-tune Instead of Training from Scratch?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097280"/>
          <a:ext cx="11460174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65043"/>
                <a:gridCol w="4011061"/>
                <a:gridCol w="4584070"/>
              </a:tblGrid>
              <a:tr h="579120">
                <a:tc>
                  <a:txBody>
                    <a:bodyPr/>
                    <a:lstStyle/>
                    <a:p>
                      <a:pPr algn="ctr"/>
                      <a:r>
                        <a:rPr b="1" sz="1600">
                          <a:solidFill>
                            <a:srgbClr val="FFFFFF"/>
                          </a:solidFill>
                          <a:latin typeface="Calibri"/>
                        </a:rPr>
                        <a:t>Criterion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600">
                          <a:solidFill>
                            <a:srgbClr val="FFFFFF"/>
                          </a:solidFill>
                          <a:latin typeface="Calibri"/>
                        </a:rPr>
                        <a:t>Train from Scratch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600">
                          <a:solidFill>
                            <a:srgbClr val="FFFFFF"/>
                          </a:solidFill>
                          <a:latin typeface="Calibri"/>
                        </a:rPr>
                        <a:t>Fine-tune MusicGen (Ours)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2C2C2C"/>
                          </a:solidFill>
                          <a:latin typeface="Calibri"/>
                        </a:rPr>
                        <a:t>Audio quality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2C2C2C"/>
                          </a:solidFill>
                          <a:latin typeface="Calibri"/>
                        </a:rPr>
                        <a:t>Noise/blur without days of training</a:t>
                      </a:r>
                    </a:p>
                  </a:txBody>
                  <a:tcPr>
                    <a:solidFill>
                      <a:srgbClr val="FDED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2C2C2C"/>
                          </a:solidFill>
                          <a:latin typeface="Calibri"/>
                        </a:rPr>
                        <a:t>Studio-quality audio (pretrained)</a:t>
                      </a:r>
                    </a:p>
                  </a:txBody>
                  <a:tcPr>
                    <a:solidFill>
                      <a:srgbClr val="D5F5E3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2C2C2C"/>
                          </a:solidFill>
                          <a:latin typeface="Calibri"/>
                        </a:rPr>
                        <a:t>Data needed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2C2C2C"/>
                          </a:solidFill>
                          <a:latin typeface="Calibri"/>
                        </a:rPr>
                        <a:t>100s of hours required</a:t>
                      </a:r>
                    </a:p>
                  </a:txBody>
                  <a:tcPr>
                    <a:solidFill>
                      <a:srgbClr val="FDED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2C2C2C"/>
                          </a:solidFill>
                          <a:latin typeface="Calibri"/>
                        </a:rPr>
                        <a:t>~67 hrs (FMA-small)</a:t>
                      </a:r>
                    </a:p>
                  </a:txBody>
                  <a:tcPr>
                    <a:solidFill>
                      <a:srgbClr val="D5F5E3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2C2C2C"/>
                          </a:solidFill>
                          <a:latin typeface="Calibri"/>
                        </a:rPr>
                        <a:t>GPU time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2C2C2C"/>
                          </a:solidFill>
                          <a:latin typeface="Calibri"/>
                        </a:rPr>
                        <a:t>Weeks on large clusters</a:t>
                      </a:r>
                    </a:p>
                  </a:txBody>
                  <a:tcPr>
                    <a:solidFill>
                      <a:srgbClr val="FDED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2C2C2C"/>
                          </a:solidFill>
                          <a:latin typeface="Calibri"/>
                        </a:rPr>
                        <a:t>~4-8 hours (Colab T4)</a:t>
                      </a:r>
                    </a:p>
                  </a:txBody>
                  <a:tcPr>
                    <a:solidFill>
                      <a:srgbClr val="D5F5E3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2C2C2C"/>
                          </a:solidFill>
                          <a:latin typeface="Calibri"/>
                        </a:rPr>
                        <a:t>Output variety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2C2C2C"/>
                          </a:solidFill>
                          <a:latin typeface="Calibri"/>
                        </a:rPr>
                        <a:t>Usually one dominant mode</a:t>
                      </a:r>
                    </a:p>
                  </a:txBody>
                  <a:tcPr>
                    <a:solidFill>
                      <a:srgbClr val="FDED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2C2C2C"/>
                          </a:solidFill>
                          <a:latin typeface="Calibri"/>
                        </a:rPr>
                        <a:t>8 distinct genres</a:t>
                      </a:r>
                    </a:p>
                  </a:txBody>
                  <a:tcPr>
                    <a:solidFill>
                      <a:srgbClr val="D5F5E3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2C2C2C"/>
                          </a:solidFill>
                          <a:latin typeface="Calibri"/>
                        </a:rPr>
                        <a:t>Trains own weights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2C2C2C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>
                    <a:solidFill>
                      <a:srgbClr val="FDED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2C2C2C"/>
                          </a:solidFill>
                          <a:latin typeface="Calibri"/>
                        </a:rPr>
                        <a:t>Yes (decoder fine-tuning)</a:t>
                      </a:r>
                    </a:p>
                  </a:txBody>
                  <a:tcPr>
                    <a:solidFill>
                      <a:srgbClr val="D5F5E3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365760" y="4754880"/>
            <a:ext cx="11460175" cy="731520"/>
          </a:xfrm>
          <a:prstGeom prst="rect">
            <a:avLst/>
          </a:prstGeom>
          <a:solidFill>
            <a:srgbClr val="EBF5FB"/>
          </a:solidFill>
          <a:ln w="254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4809744"/>
            <a:ext cx="11094415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700" b="0">
                <a:solidFill>
                  <a:srgbClr val="3498DB"/>
                </a:solidFill>
                <a:latin typeface="Calibri"/>
              </a:rPr>
              <a:t>Fine-tuning satisfies the 'train your own weights' requirement.</a:t>
            </a:r>
          </a:p>
          <a:p>
            <a:pPr algn="l">
              <a:spcBef>
                <a:spcPts val="300"/>
              </a:spcBef>
            </a:pPr>
            <a:r>
              <a:rPr sz="1700" b="0">
                <a:solidFill>
                  <a:srgbClr val="3498DB"/>
                </a:solidFill>
                <a:latin typeface="Calibri"/>
              </a:rPr>
              <a:t>We update the transformer decoder parameters on our genre-labeled data.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MusicGen Architecture  (Copet et al., NeurIPS 2023)</a:t>
            </a:r>
          </a:p>
        </p:txBody>
      </p:sp>
      <p:pic>
        <p:nvPicPr>
          <p:cNvPr id="4" name="Picture 3" descr="eda_musicgen_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43000"/>
            <a:ext cx="5943600" cy="530352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583680" y="1577340"/>
            <a:ext cx="5303520" cy="6858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0" y="162306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Text Prompt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0" y="194310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"upbeat electronic..."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37960" y="157734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FROZEN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263140"/>
            <a:ext cx="5303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55656E"/>
                </a:solidFill>
                <a:latin typeface="Calibri"/>
              </a:rPr>
              <a:t>v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0" y="2446020"/>
            <a:ext cx="5303520" cy="685800"/>
          </a:xfrm>
          <a:prstGeom prst="rect">
            <a:avLst/>
          </a:prstGeom>
          <a:solidFill>
            <a:srgbClr val="7D3C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0" y="249174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T5 Text Encoder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281178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T5-base, 768-dim embeddings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24460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FROZEN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3131820"/>
            <a:ext cx="5303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55656E"/>
                </a:solidFill>
                <a:latin typeface="Calibri"/>
              </a:rPr>
              <a:t>v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0" y="3314700"/>
            <a:ext cx="5303520" cy="6858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75120" y="336042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Transformer Decoder LM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368046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300M params, 24 layers, h=1024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331470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FINE-TUNED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4000500"/>
            <a:ext cx="5303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55656E"/>
                </a:solidFill>
                <a:latin typeface="Calibri"/>
              </a:rPr>
              <a:t>v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83680" y="4183380"/>
            <a:ext cx="5303520" cy="685800"/>
          </a:xfrm>
          <a:prstGeom prst="rect">
            <a:avLst/>
          </a:prstGeom>
          <a:solidFill>
            <a:srgbClr val="1E8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75120" y="422910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EnCodec Decoder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454914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32kHz, 4 codebooks, size 2048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60" y="418338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FROZEN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4869180"/>
            <a:ext cx="5303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55656E"/>
                </a:solidFill>
                <a:latin typeface="Calibri"/>
              </a:rPr>
              <a:t>v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83680" y="5052060"/>
            <a:ext cx="5303520" cy="68580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75120" y="509778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Audio Output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75120" y="541782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32kHz waveform, 30 seconds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4046220"/>
            <a:ext cx="5577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E74C3C"/>
                </a:solidFill>
                <a:latin typeface="Calibri"/>
              </a:rPr>
              <a:t>Only the Transformer Decoder is fine-tuned on FMA data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MusicGen Fine-tuning: Training Summary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097280"/>
          <a:ext cx="5943599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94021"/>
                <a:gridCol w="3649578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Setting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Value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2C2C2C"/>
                          </a:solidFill>
                          <a:latin typeface="Calibri"/>
                        </a:rPr>
                        <a:t>Base model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2C2C2C"/>
                          </a:solidFill>
                          <a:latin typeface="Calibri"/>
                        </a:rPr>
                        <a:t>facebook/musicgen-small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2C2C2C"/>
                          </a:solidFill>
                          <a:latin typeface="Calibri"/>
                        </a:rPr>
                        <a:t>Training data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2C2C2C"/>
                          </a:solidFill>
                          <a:latin typeface="Calibri"/>
                        </a:rPr>
                        <a:t>72 pairs (4 genres x 18 tracks)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2C2C2C"/>
                          </a:solidFill>
                          <a:latin typeface="Calibri"/>
                        </a:rPr>
                        <a:t>Validation data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2C2C2C"/>
                          </a:solidFill>
                          <a:latin typeface="Calibri"/>
                        </a:rPr>
                        <a:t>8 pairs (4 genres x 2 tracks)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2C2C2C"/>
                          </a:solidFill>
                          <a:latin typeface="Calibri"/>
                        </a:rPr>
                        <a:t>Epochs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2C2C2C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2C2C2C"/>
                          </a:solidFill>
                          <a:latin typeface="Calibri"/>
                        </a:rPr>
                        <a:t>Batch size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2C2C2C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2C2C2C"/>
                          </a:solidFill>
                          <a:latin typeface="Calibri"/>
                        </a:rPr>
                        <a:t>Learning rate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2C2C2C"/>
                          </a:solidFill>
                          <a:latin typeface="Calibri"/>
                        </a:rPr>
                        <a:t>1e-4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2C2C2C"/>
                          </a:solidFill>
                          <a:latin typeface="Calibri"/>
                        </a:rPr>
                        <a:t>Total steps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2C2C2C"/>
                          </a:solidFill>
                          <a:latin typeface="Calibri"/>
                        </a:rPr>
                        <a:t>180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2C2C2C"/>
                          </a:solidFill>
                          <a:latin typeface="Calibri"/>
                        </a:rPr>
                        <a:t>GPU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2C2C2C"/>
                          </a:solidFill>
                          <a:latin typeface="Calibri"/>
                        </a:rPr>
                        <a:t>Colab T4 (16 GB VRAM)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2C2C2C"/>
                          </a:solidFill>
                          <a:latin typeface="Calibri"/>
                        </a:rPr>
                        <a:t>Training loss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2C2C2C"/>
                          </a:solidFill>
                          <a:latin typeface="Calibri"/>
                        </a:rPr>
                        <a:t>8.13 -&gt; 7.09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2C2C2C"/>
                          </a:solidFill>
                          <a:latin typeface="Calibri"/>
                        </a:rPr>
                        <a:t>Validation loss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2C2C2C"/>
                          </a:solidFill>
                          <a:latin typeface="Calibri"/>
                        </a:rPr>
                        <a:t>7.34 -&gt; 7.21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</a:tbl>
          </a:graphicData>
        </a:graphic>
      </p:graphicFrame>
      <p:pic>
        <p:nvPicPr>
          <p:cNvPr id="5" name="Picture 4" descr="t4_training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097280"/>
            <a:ext cx="5333695" cy="4023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5257800"/>
            <a:ext cx="1146017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55656E"/>
                </a:solidFill>
                <a:latin typeface="Calibri"/>
              </a:rPr>
              <a:t>Smoke test only. A full run (800 tracks, 25 epochs) would produce stronger genre specificity.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Task 4: Evaluation via Genre Consistency</a:t>
            </a:r>
          </a:p>
        </p:txBody>
      </p:sp>
      <p:sp>
        <p:nvSpPr>
          <p:cNvPr id="4" name="Rectangle 3"/>
          <p:cNvSpPr/>
          <p:nvPr/>
        </p:nvSpPr>
        <p:spPr>
          <a:xfrm>
            <a:off x="723747" y="1234440"/>
            <a:ext cx="2377440" cy="9144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23747" y="123444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Generate 30s audio
from text prompt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01187" y="1234440"/>
            <a:ext cx="411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55656E"/>
                </a:solidFill>
                <a:latin typeface="Calibri"/>
              </a:rPr>
              <a:t>-&gt;</a:t>
            </a:r>
          </a:p>
        </p:txBody>
      </p:sp>
      <p:sp>
        <p:nvSpPr>
          <p:cNvPr id="7" name="Rectangle 6"/>
          <p:cNvSpPr/>
          <p:nvPr/>
        </p:nvSpPr>
        <p:spPr>
          <a:xfrm>
            <a:off x="3512667" y="1234440"/>
            <a:ext cx="2377440" cy="914400"/>
          </a:xfrm>
          <a:prstGeom prst="rect">
            <a:avLst/>
          </a:prstGeom>
          <a:solidFill>
            <a:srgbClr val="7D3C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12667" y="123444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Extract MFCC
features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90107" y="1234440"/>
            <a:ext cx="411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55656E"/>
                </a:solidFill>
                <a:latin typeface="Calibri"/>
              </a:rPr>
              <a:t>-&gt;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1587" y="1234440"/>
            <a:ext cx="2377440" cy="914400"/>
          </a:xfrm>
          <a:prstGeom prst="rect">
            <a:avLst/>
          </a:prstGeom>
          <a:solidFill>
            <a:srgbClr val="1E8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1587" y="123444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SVM genre
classifier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79027" y="1234440"/>
            <a:ext cx="411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55656E"/>
                </a:solidFill>
                <a:latin typeface="Calibri"/>
              </a:rPr>
              <a:t>-&gt;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090507" y="1234440"/>
            <a:ext cx="2377440" cy="91440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90507" y="123444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Compare to
target genre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2377440"/>
            <a:ext cx="7132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</a:pPr>
            <a:r>
              <a:rPr sz="1900" b="0">
                <a:solidFill>
                  <a:srgbClr val="2C2C2C"/>
                </a:solidFill>
                <a:latin typeface="Calibri"/>
              </a:rPr>
              <a:t>  Metric: Genre classifier accuracy on generated audio</a:t>
            </a:r>
          </a:p>
          <a:p>
            <a:pPr algn="l">
              <a:spcBef>
                <a:spcPts val="800"/>
              </a:spcBef>
            </a:pPr>
            <a:r>
              <a:rPr sz="1900" b="0">
                <a:solidFill>
                  <a:srgbClr val="2C2C2C"/>
                </a:solidFill>
                <a:latin typeface="Calibri"/>
              </a:rPr>
              <a:t>  Baseline: Pretrained MusicGen (no fine-tuning)</a:t>
            </a:r>
          </a:p>
          <a:p>
            <a:pPr algn="l">
              <a:spcBef>
                <a:spcPts val="800"/>
              </a:spcBef>
            </a:pPr>
            <a:r>
              <a:rPr sz="1900" b="0">
                <a:solidFill>
                  <a:srgbClr val="2C2C2C"/>
                </a:solidFill>
                <a:latin typeface="Calibri"/>
              </a:rPr>
              <a:t>  Our model: Fine-tuned MusicGen</a:t>
            </a:r>
          </a:p>
          <a:p>
            <a:pPr algn="l">
              <a:spcBef>
                <a:spcPts val="800"/>
              </a:spcBef>
            </a:pPr>
            <a:r>
              <a:rPr sz="1900" b="0">
                <a:solidFill>
                  <a:srgbClr val="2C2C2C"/>
                </a:solidFill>
                <a:latin typeface="Calibri"/>
              </a:rPr>
              <a:t>  Test set: 1 sample per genre, 4 genres total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680960" y="2377440"/>
            <a:ext cx="4297680" cy="2286000"/>
          </a:xfrm>
          <a:prstGeom prst="rect">
            <a:avLst/>
          </a:prstGeom>
          <a:solidFill>
            <a:srgbClr val="FDF2CC"/>
          </a:solidFill>
          <a:ln w="1905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18120" y="246888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39C12"/>
                </a:solidFill>
                <a:latin typeface="Calibri"/>
              </a:rPr>
              <a:t>Why not Frechet Audio Distance (FAD)?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18120" y="2880360"/>
            <a:ext cx="402336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500"/>
              </a:spcBef>
            </a:pPr>
            <a:r>
              <a:rPr sz="1500" b="0">
                <a:solidFill>
                  <a:srgbClr val="2C2C2C"/>
                </a:solidFill>
                <a:latin typeface="Calibri"/>
              </a:rPr>
              <a:t>Requires pretrained VGGish or similar model.</a:t>
            </a:r>
          </a:p>
          <a:p>
            <a:pPr algn="l">
              <a:spcBef>
                <a:spcPts val="500"/>
              </a:spcBef>
            </a:pPr>
            <a:r>
              <a:rPr sz="1500" b="0">
                <a:solidFill>
                  <a:srgbClr val="2C2C2C"/>
                </a:solidFill>
                <a:latin typeface="Calibri"/>
              </a:rPr>
              <a:t>Not set up within project timeline.</a:t>
            </a:r>
          </a:p>
          <a:p>
            <a:pPr algn="l">
              <a:spcBef>
                <a:spcPts val="500"/>
              </a:spcBef>
            </a:pPr>
            <a:r>
              <a:rPr sz="1500" b="0">
                <a:solidFill>
                  <a:srgbClr val="2C2C2C"/>
                </a:solidFill>
                <a:latin typeface="Calibri"/>
              </a:rPr>
              <a:t>Genre accuracy is more interpretable.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4709160"/>
            <a:ext cx="1146017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55656E"/>
                </a:solidFill>
                <a:latin typeface="Calibri"/>
              </a:rPr>
              <a:t>SVM classifier trained on MFCC features from real FMA tracks (not the generated audio)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Task 4: Results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11460175" cy="640080"/>
          </a:xfrm>
          <a:prstGeom prst="rect">
            <a:avLst/>
          </a:prstGeom>
          <a:solidFill>
            <a:srgbClr val="EBF5FB"/>
          </a:solidFill>
          <a:ln w="254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110944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3498DB"/>
                </a:solidFill>
                <a:latin typeface="Calibri"/>
              </a:rPr>
              <a:t>Genre Accuracy:  25% (pretrained)  -&gt;  75% (fine-tuned)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828800"/>
          <a:ext cx="7132318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8902"/>
                <a:gridCol w="2717074"/>
                <a:gridCol w="1698171"/>
                <a:gridCol w="1698171"/>
              </a:tblGrid>
              <a:tr h="438912">
                <a:tc>
                  <a:txBody>
                    <a:bodyPr/>
                    <a:lstStyle/>
                    <a:p>
                      <a:pPr algn="ctr"/>
                      <a:r>
                        <a:rPr b="1" sz="1400">
                          <a:solidFill>
                            <a:srgbClr val="FFFFFF"/>
                          </a:solidFill>
                          <a:latin typeface="Calibri"/>
                        </a:rPr>
                        <a:t>Genre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400">
                          <a:solidFill>
                            <a:srgbClr val="FFFFFF"/>
                          </a:solidFill>
                          <a:latin typeface="Calibri"/>
                        </a:rPr>
                        <a:t>Prompt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400">
                          <a:solidFill>
                            <a:srgbClr val="FFFFFF"/>
                          </a:solidFill>
                          <a:latin typeface="Calibri"/>
                        </a:rPr>
                        <a:t>Pretrained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400">
                          <a:solidFill>
                            <a:srgbClr val="FFFFFF"/>
                          </a:solidFill>
                          <a:latin typeface="Calibri"/>
                        </a:rPr>
                        <a:t>Fine-tuned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C2C2C"/>
                          </a:solidFill>
                          <a:latin typeface="Calibri"/>
                        </a:rPr>
                        <a:t>Hip-Hop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C2C2C"/>
                          </a:solidFill>
                          <a:latin typeface="Calibri"/>
                        </a:rPr>
                        <a:t>hip hop music with beats and rhythm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C2C2C"/>
                          </a:solidFill>
                          <a:latin typeface="Calibri"/>
                        </a:rPr>
                        <a:t>Electronic (87%)</a:t>
                      </a:r>
                    </a:p>
                  </a:txBody>
                  <a:tcPr>
                    <a:solidFill>
                      <a:srgbClr val="FDED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C2C2C"/>
                          </a:solidFill>
                          <a:latin typeface="Calibri"/>
                        </a:rPr>
                        <a:t>Electronic (97%)</a:t>
                      </a:r>
                    </a:p>
                  </a:txBody>
                  <a:tcPr>
                    <a:solidFill>
                      <a:srgbClr val="FDEDE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C2C2C"/>
                          </a:solidFill>
                          <a:latin typeface="Calibri"/>
                        </a:rPr>
                        <a:t>Folk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C2C2C"/>
                          </a:solidFill>
                          <a:latin typeface="Calibri"/>
                        </a:rPr>
                        <a:t>acoustic folk music with guitar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C2C2C"/>
                          </a:solidFill>
                          <a:latin typeface="Calibri"/>
                        </a:rPr>
                        <a:t>Folk (100%)</a:t>
                      </a:r>
                    </a:p>
                  </a:txBody>
                  <a:tcPr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C2C2C"/>
                          </a:solidFill>
                          <a:latin typeface="Calibri"/>
                        </a:rPr>
                        <a:t>Folk (100%)</a:t>
                      </a:r>
                    </a:p>
                  </a:txBody>
                  <a:tcPr>
                    <a:solidFill>
                      <a:srgbClr val="D5F5E3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C2C2C"/>
                          </a:solidFill>
                          <a:latin typeface="Calibri"/>
                        </a:rPr>
                        <a:t>Electronic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C2C2C"/>
                          </a:solidFill>
                          <a:latin typeface="Calibri"/>
                        </a:rPr>
                        <a:t>electronic music with synthesizers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C2C2C"/>
                          </a:solidFill>
                          <a:latin typeface="Calibri"/>
                        </a:rPr>
                        <a:t>Folk (100%)</a:t>
                      </a:r>
                    </a:p>
                  </a:txBody>
                  <a:tcPr>
                    <a:solidFill>
                      <a:srgbClr val="FDED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C2C2C"/>
                          </a:solidFill>
                          <a:latin typeface="Calibri"/>
                        </a:rPr>
                        <a:t>Electronic (100%)</a:t>
                      </a:r>
                    </a:p>
                  </a:txBody>
                  <a:tcPr>
                    <a:solidFill>
                      <a:srgbClr val="D5F5E3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C2C2C"/>
                          </a:solidFill>
                          <a:latin typeface="Calibri"/>
                        </a:rPr>
                        <a:t>Rock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C2C2C"/>
                          </a:solidFill>
                          <a:latin typeface="Calibri"/>
                        </a:rPr>
                        <a:t>energetic rock music with electric guitar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C2C2C"/>
                          </a:solidFill>
                          <a:latin typeface="Calibri"/>
                        </a:rPr>
                        <a:t>Folk (100%)</a:t>
                      </a:r>
                    </a:p>
                  </a:txBody>
                  <a:tcPr>
                    <a:solidFill>
                      <a:srgbClr val="FDED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C2C2C"/>
                          </a:solidFill>
                          <a:latin typeface="Calibri"/>
                        </a:rPr>
                        <a:t>Rock (100%)</a:t>
                      </a:r>
                    </a:p>
                  </a:txBody>
                  <a:tcPr>
                    <a:solidFill>
                      <a:srgbClr val="D5F5E3"/>
                    </a:solidFill>
                  </a:tcPr>
                </a:tc>
              </a:tr>
            </a:tbl>
          </a:graphicData>
        </a:graphic>
      </p:graphicFrame>
      <p:pic>
        <p:nvPicPr>
          <p:cNvPr id="7" name="Picture 6" descr="eval_task4_genre_accura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828800"/>
            <a:ext cx="4419295" cy="21945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65760" y="4160520"/>
            <a:ext cx="1146017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</a:pPr>
            <a:r>
              <a:rPr sz="1700" b="0">
                <a:solidFill>
                  <a:srgbClr val="2C2C2C"/>
                </a:solidFill>
                <a:latin typeface="Calibri"/>
              </a:rPr>
              <a:t>  Pretrained model defaults to Folk-like acoustic textures for most prompts</a:t>
            </a:r>
          </a:p>
          <a:p>
            <a:pPr algn="l">
              <a:spcBef>
                <a:spcPts val="600"/>
              </a:spcBef>
            </a:pPr>
            <a:r>
              <a:rPr sz="1700" b="0">
                <a:solidFill>
                  <a:srgbClr val="2C2C2C"/>
                </a:solidFill>
                <a:latin typeface="Calibri"/>
              </a:rPr>
              <a:t>  Fine-tuning teaches genre-specific audio characteristics</a:t>
            </a:r>
          </a:p>
          <a:p>
            <a:pPr algn="l">
              <a:spcBef>
                <a:spcPts val="600"/>
              </a:spcBef>
            </a:pPr>
            <a:r>
              <a:rPr sz="1700" b="0">
                <a:solidFill>
                  <a:srgbClr val="2C2C2C"/>
                </a:solidFill>
                <a:latin typeface="Calibri"/>
              </a:rPr>
              <a:t>  Hip-Hop misclassified as Electronic: hip-hop production often uses synthesized beats</a:t>
            </a:r>
          </a:p>
          <a:p>
            <a:pPr algn="l">
              <a:spcBef>
                <a:spcPts val="600"/>
              </a:spcBef>
            </a:pPr>
            <a:r>
              <a:rPr sz="1700" b="0">
                <a:solidFill>
                  <a:srgbClr val="2C2C2C"/>
                </a:solidFill>
                <a:latin typeface="Calibri"/>
              </a:rPr>
              <a:t>  Limitation: only 4 test samples (1 per genre), no confidence intervals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Related Work: Symbolic Music Generation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097280"/>
          <a:ext cx="7772398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1476"/>
                <a:gridCol w="1513210"/>
                <a:gridCol w="1375646"/>
                <a:gridCol w="2201033"/>
                <a:gridCol w="2201033"/>
              </a:tblGrid>
              <a:tr h="609600"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  <a:latin typeface="Calibri"/>
                        </a:rPr>
                        <a:t>Year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  <a:latin typeface="Calibri"/>
                        </a:rPr>
                        <a:t>Work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  <a:latin typeface="Calibri"/>
                        </a:rPr>
                        <a:t>Key Contribution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  <a:latin typeface="Calibri"/>
                        </a:rPr>
                        <a:t>Relation to Ours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C2C2C"/>
                          </a:solidFill>
                          <a:latin typeface="Calibri"/>
                        </a:rPr>
                        <a:t>2005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C2C2C"/>
                          </a:solidFill>
                          <a:latin typeface="Calibri"/>
                        </a:rPr>
                        <a:t>Allan &amp; Williams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C2C2C"/>
                          </a:solidFill>
                          <a:latin typeface="Calibri"/>
                        </a:rPr>
                        <a:t>HMM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C2C2C"/>
                          </a:solidFill>
                          <a:latin typeface="Calibri"/>
                        </a:rPr>
                        <a:t>Classic baseline, BIC model selection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C2C2C"/>
                          </a:solidFill>
                          <a:latin typeface="Calibri"/>
                        </a:rPr>
                        <a:t>Our Markov chain is similar but simpler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C2C2C"/>
                          </a:solidFill>
                          <a:latin typeface="Calibri"/>
                        </a:rPr>
                        <a:t>2017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C2C2C"/>
                          </a:solidFill>
                          <a:latin typeface="Calibri"/>
                        </a:rPr>
                        <a:t>DeepBach (Hadjeres)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C2C2C"/>
                          </a:solidFill>
                          <a:latin typeface="Calibri"/>
                        </a:rPr>
                        <a:t>Gibbs + LSTM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C2C2C"/>
                          </a:solidFill>
                          <a:latin typeface="Calibri"/>
                        </a:rPr>
                        <a:t>Steerable generation, fix any voice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C2C2C"/>
                          </a:solidFill>
                          <a:latin typeface="Calibri"/>
                        </a:rPr>
                        <a:t>Explicit harmonic constraints we lack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C2C2C"/>
                          </a:solidFill>
                          <a:latin typeface="Calibri"/>
                        </a:rPr>
                        <a:t>2017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C2C2C"/>
                          </a:solidFill>
                          <a:latin typeface="Calibri"/>
                        </a:rPr>
                        <a:t>BachBot (Liang)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C2C2C"/>
                          </a:solidFill>
                          <a:latin typeface="Calibri"/>
                        </a:rPr>
                        <a:t>LSTM seq2seq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C2C2C"/>
                          </a:solidFill>
                          <a:latin typeface="Calibri"/>
                        </a:rPr>
                        <a:t>Turing test: fooled 1/3 listeners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C2C2C"/>
                          </a:solidFill>
                          <a:latin typeface="Calibri"/>
                        </a:rPr>
                        <a:t>Most similar architecture to ours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C2C2C"/>
                          </a:solidFill>
                          <a:latin typeface="Calibri"/>
                        </a:rPr>
                        <a:t>2019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C2C2C"/>
                          </a:solidFill>
                          <a:latin typeface="Calibri"/>
                        </a:rPr>
                        <a:t>Music Transformer (Huang)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C2C2C"/>
                          </a:solidFill>
                          <a:latin typeface="Calibri"/>
                        </a:rPr>
                        <a:t>Transformer + rel. attn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C2C2C"/>
                          </a:solidFill>
                          <a:latin typeface="Calibri"/>
                        </a:rPr>
                        <a:t>Best perplexity (~1.2)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C2C2C"/>
                          </a:solidFill>
                          <a:latin typeface="Calibri"/>
                        </a:rPr>
                        <a:t>Shows headroom above our 1.97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C2C2C"/>
                          </a:solidFill>
                          <a:latin typeface="Calibri"/>
                        </a:rPr>
                        <a:t>2021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C2C2C"/>
                          </a:solidFill>
                          <a:latin typeface="Calibri"/>
                        </a:rPr>
                        <a:t>BacHMMachine (Hahn)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C2C2C"/>
                          </a:solidFill>
                          <a:latin typeface="Calibri"/>
                        </a:rPr>
                        <a:t>Theory-guided HMM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C2C2C"/>
                          </a:solidFill>
                          <a:latin typeface="Calibri"/>
                        </a:rPr>
                        <a:t>Interpretable chord transitions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C2C2C"/>
                          </a:solidFill>
                          <a:latin typeface="Calibri"/>
                        </a:rPr>
                        <a:t>Music theory as model constraint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5" name="Picture 4" descr="t1_related_wo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1097280"/>
            <a:ext cx="3779215" cy="3657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4892040"/>
            <a:ext cx="1146017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55656E"/>
                </a:solidFill>
                <a:latin typeface="Calibri"/>
              </a:rPr>
              <a:t>Our LSTM is closest to BachBot. We explored the tension between statistical fit and musical quality rather than aiming for SOTA perplexity.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Related Work: Continuous Audio Generation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097280"/>
          <a:ext cx="7772399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8160"/>
                <a:gridCol w="2072640"/>
                <a:gridCol w="1850571"/>
                <a:gridCol w="3331028"/>
              </a:tblGrid>
              <a:tr h="579120"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Year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Work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Key Contribution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2C2C2C"/>
                          </a:solidFill>
                          <a:latin typeface="Calibri"/>
                        </a:rPr>
                        <a:t>2017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2C2C2C"/>
                          </a:solidFill>
                          <a:latin typeface="Calibri"/>
                        </a:rPr>
                        <a:t>FMA Dataset (Defferrard)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2C2C2C"/>
                          </a:solidFill>
                          <a:latin typeface="Calibri"/>
                        </a:rPr>
                        <a:t>--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2C2C2C"/>
                          </a:solidFill>
                          <a:latin typeface="Calibri"/>
                        </a:rPr>
                        <a:t>106K tracks, 161 genres, CC licensed benchmark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2C2C2C"/>
                          </a:solidFill>
                          <a:latin typeface="Calibri"/>
                        </a:rPr>
                        <a:t>2023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2C2C2C"/>
                          </a:solidFill>
                          <a:latin typeface="Calibri"/>
                        </a:rPr>
                        <a:t>MusicGen (Copet, NeurIPS)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2C2C2C"/>
                          </a:solidFill>
                          <a:latin typeface="Calibri"/>
                        </a:rPr>
                        <a:t>Single-stage AR LM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2C2C2C"/>
                          </a:solidFill>
                          <a:latin typeface="Calibri"/>
                        </a:rPr>
                        <a:t>Efficient codebook interleaving -- our base model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2C2C2C"/>
                          </a:solidFill>
                          <a:latin typeface="Calibri"/>
                        </a:rPr>
                        <a:t>2023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2C2C2C"/>
                          </a:solidFill>
                          <a:latin typeface="Calibri"/>
                        </a:rPr>
                        <a:t>MusicLM (Agostinelli, Google)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2C2C2C"/>
                          </a:solidFill>
                          <a:latin typeface="Calibri"/>
                        </a:rPr>
                        <a:t>Hierarchical audio LM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2C2C2C"/>
                          </a:solidFill>
                          <a:latin typeface="Calibri"/>
                        </a:rPr>
                        <a:t>Semantic + acoustic token hierarchy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2C2C2C"/>
                          </a:solidFill>
                          <a:latin typeface="Calibri"/>
                        </a:rPr>
                        <a:t>2023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2C2C2C"/>
                          </a:solidFill>
                          <a:latin typeface="Calibri"/>
                        </a:rPr>
                        <a:t>AudioCraft (Meta)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2C2C2C"/>
                          </a:solidFill>
                          <a:latin typeface="Calibri"/>
                        </a:rPr>
                        <a:t>Open-source framework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2C2C2C"/>
                          </a:solidFill>
                          <a:latin typeface="Calibri"/>
                        </a:rPr>
                        <a:t>pip install audiocraft, democratized audio gen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2C2C2C"/>
                          </a:solidFill>
                          <a:latin typeface="Calibri"/>
                        </a:rPr>
                        <a:t>2025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2C2C2C"/>
                          </a:solidFill>
                          <a:latin typeface="Calibri"/>
                        </a:rPr>
                        <a:t>Genre Fine-tuning (IJCRT)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2C2C2C"/>
                          </a:solidFill>
                          <a:latin typeface="Calibri"/>
                        </a:rPr>
                        <a:t>MusicGen-small fine-tuned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2C2C2C"/>
                          </a:solidFill>
                          <a:latin typeface="Calibri"/>
                        </a:rPr>
                        <a:t>Same FMA genre approach as ours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5" name="Picture 4" descr="t4_related_wo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1097280"/>
            <a:ext cx="3779215" cy="34747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4709160"/>
            <a:ext cx="114601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55656E"/>
                </a:solidFill>
                <a:latin typeface="Calibri"/>
              </a:rPr>
              <a:t>Our contribution: side-by-side comparison of symbolic and continuous generation, showing how the same goal plays out across two representation spaces.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Symbolic vs Continuous: Two Paradigms Compared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097280"/>
          <a:ext cx="11460173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28613"/>
                <a:gridCol w="4365780"/>
                <a:gridCol w="4365780"/>
              </a:tblGrid>
              <a:tr h="558800"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Dimension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Task 1: Symbolic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Task 4: Continuous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2C2C2C"/>
                          </a:solidFill>
                          <a:latin typeface="Calibri"/>
                        </a:rPr>
                        <a:t>Representation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2C2C2C"/>
                          </a:solidFill>
                          <a:latin typeface="Calibri"/>
                        </a:rPr>
                        <a:t>MIDI tokens (47-dim vocab)</a:t>
                      </a:r>
                    </a:p>
                  </a:txBody>
                  <a:tcPr>
                    <a:solidFill>
                      <a:srgbClr val="FDED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2C2C2C"/>
                          </a:solidFill>
                          <a:latin typeface="Calibri"/>
                        </a:rPr>
                        <a:t>Raw audio waveform (32kHz)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2C2C2C"/>
                          </a:solidFill>
                          <a:latin typeface="Calibri"/>
                        </a:rPr>
                        <a:t>Model size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2C2C2C"/>
                          </a:solidFill>
                          <a:latin typeface="Calibri"/>
                        </a:rPr>
                        <a:t>1.1M parameters</a:t>
                      </a:r>
                    </a:p>
                  </a:txBody>
                  <a:tcPr>
                    <a:solidFill>
                      <a:srgbClr val="FDED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2C2C2C"/>
                          </a:solidFill>
                          <a:latin typeface="Calibri"/>
                        </a:rPr>
                        <a:t>300M parameters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2C2C2C"/>
                          </a:solidFill>
                          <a:latin typeface="Calibri"/>
                        </a:rPr>
                        <a:t>Training data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2C2C2C"/>
                          </a:solidFill>
                          <a:latin typeface="Calibri"/>
                        </a:rPr>
                        <a:t>368 chorales (~15 min audio equiv.)</a:t>
                      </a:r>
                    </a:p>
                  </a:txBody>
                  <a:tcPr>
                    <a:solidFill>
                      <a:srgbClr val="FDED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2C2C2C"/>
                          </a:solidFill>
                          <a:latin typeface="Calibri"/>
                        </a:rPr>
                        <a:t>8,000 tracks (~67 hours)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2C2C2C"/>
                          </a:solidFill>
                          <a:latin typeface="Calibri"/>
                        </a:rPr>
                        <a:t>Training time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2C2C2C"/>
                          </a:solidFill>
                          <a:latin typeface="Calibri"/>
                        </a:rPr>
                        <a:t>Minutes (CPU)</a:t>
                      </a:r>
                    </a:p>
                  </a:txBody>
                  <a:tcPr>
                    <a:solidFill>
                      <a:srgbClr val="FDED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2C2C2C"/>
                          </a:solidFill>
                          <a:latin typeface="Calibri"/>
                        </a:rPr>
                        <a:t>Hours (GPU)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2C2C2C"/>
                          </a:solidFill>
                          <a:latin typeface="Calibri"/>
                        </a:rPr>
                        <a:t>Evaluation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2C2C2C"/>
                          </a:solidFill>
                          <a:latin typeface="Calibri"/>
                        </a:rPr>
                        <a:t>5 precise metrics (perplexity, KL...)</a:t>
                      </a:r>
                    </a:p>
                  </a:txBody>
                  <a:tcPr>
                    <a:solidFill>
                      <a:srgbClr val="FDED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2C2C2C"/>
                          </a:solidFill>
                          <a:latin typeface="Calibri"/>
                        </a:rPr>
                        <a:t>Genre classifier accuracy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2C2C2C"/>
                          </a:solidFill>
                          <a:latin typeface="Calibri"/>
                        </a:rPr>
                        <a:t>Output quality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2C2C2C"/>
                          </a:solidFill>
                          <a:latin typeface="Calibri"/>
                        </a:rPr>
                        <a:t>Structured but "mechanical"</a:t>
                      </a:r>
                    </a:p>
                  </a:txBody>
                  <a:tcPr>
                    <a:solidFill>
                      <a:srgbClr val="FDED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2C2C2C"/>
                          </a:solidFill>
                          <a:latin typeface="Calibri"/>
                        </a:rPr>
                        <a:t>Perceptually realistic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2C2C2C"/>
                          </a:solidFill>
                          <a:latin typeface="Calibri"/>
                        </a:rPr>
                        <a:t>Interpretability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2C2C2C"/>
                          </a:solidFill>
                          <a:latin typeface="Calibri"/>
                        </a:rPr>
                        <a:t>High (inspect individual notes/voices)</a:t>
                      </a:r>
                    </a:p>
                  </a:txBody>
                  <a:tcPr>
                    <a:solidFill>
                      <a:srgbClr val="FDED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2C2C2C"/>
                          </a:solidFill>
                          <a:latin typeface="Calibri"/>
                        </a:rPr>
                        <a:t>Low (raw waveform)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2C2C2C"/>
                          </a:solidFill>
                          <a:latin typeface="Calibri"/>
                        </a:rPr>
                        <a:t>Key tension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2C2C2C"/>
                          </a:solidFill>
                          <a:latin typeface="Calibri"/>
                        </a:rPr>
                        <a:t>Statistical fit vs music theory rules</a:t>
                      </a:r>
                    </a:p>
                  </a:txBody>
                  <a:tcPr>
                    <a:solidFill>
                      <a:srgbClr val="FDED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2C2C2C"/>
                          </a:solidFill>
                          <a:latin typeface="Calibri"/>
                        </a:rPr>
                        <a:t>Generic quality vs genre specificity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Conclusion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5577840" cy="1828800"/>
          </a:xfrm>
          <a:prstGeom prst="rect">
            <a:avLst/>
          </a:prstGeom>
          <a:solidFill>
            <a:srgbClr val="FDEDEC"/>
          </a:solidFill>
          <a:ln w="254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4300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E74C3C"/>
                </a:solidFill>
                <a:latin typeface="Calibri"/>
              </a:rPr>
              <a:t>Task 1 Results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00200"/>
            <a:ext cx="53035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500"/>
              </a:spcBef>
            </a:pPr>
            <a:r>
              <a:rPr sz="1700" b="0">
                <a:solidFill>
                  <a:srgbClr val="2C2C2C"/>
                </a:solidFill>
                <a:latin typeface="Calibri"/>
              </a:rPr>
              <a:t>  LSTM achieves 1.97 perplexity on JSB Chorales</a:t>
            </a:r>
          </a:p>
          <a:p>
            <a:pPr algn="l">
              <a:spcBef>
                <a:spcPts val="500"/>
              </a:spcBef>
            </a:pPr>
            <a:r>
              <a:rPr sz="1700" b="0">
                <a:solidFill>
                  <a:srgbClr val="2C2C2C"/>
                </a:solidFill>
                <a:latin typeface="Calibri"/>
              </a:rPr>
              <a:t>  1.3x improvement over bigram Markov baseline</a:t>
            </a:r>
          </a:p>
          <a:p>
            <a:pPr algn="l">
              <a:spcBef>
                <a:spcPts val="500"/>
              </a:spcBef>
            </a:pPr>
            <a:r>
              <a:rPr sz="1700" b="0">
                <a:solidFill>
                  <a:srgbClr val="2C2C2C"/>
                </a:solidFill>
                <a:latin typeface="Calibri"/>
              </a:rPr>
              <a:t>  But more parallel 5ths/octaves (18.1% vs 11.5%)</a:t>
            </a:r>
          </a:p>
        </p:txBody>
      </p:sp>
      <p:sp>
        <p:nvSpPr>
          <p:cNvPr id="7" name="Rectangle 6"/>
          <p:cNvSpPr/>
          <p:nvPr/>
        </p:nvSpPr>
        <p:spPr>
          <a:xfrm>
            <a:off x="6309360" y="1097280"/>
            <a:ext cx="5577840" cy="1828800"/>
          </a:xfrm>
          <a:prstGeom prst="rect">
            <a:avLst/>
          </a:prstGeom>
          <a:solidFill>
            <a:srgbClr val="EBF5FB"/>
          </a:solidFill>
          <a:ln w="254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14300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3498DB"/>
                </a:solidFill>
                <a:latin typeface="Calibri"/>
              </a:rPr>
              <a:t>Task 4 Results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1600200"/>
            <a:ext cx="53035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500"/>
              </a:spcBef>
            </a:pPr>
            <a:r>
              <a:rPr sz="1700" b="0">
                <a:solidFill>
                  <a:srgbClr val="2C2C2C"/>
                </a:solidFill>
                <a:latin typeface="Calibri"/>
              </a:rPr>
              <a:t>  Fine-tuning improves genre accuracy: 25% -&gt; 75%</a:t>
            </a:r>
          </a:p>
          <a:p>
            <a:pPr algn="l">
              <a:spcBef>
                <a:spcPts val="500"/>
              </a:spcBef>
            </a:pPr>
            <a:r>
              <a:rPr sz="1700" b="0">
                <a:solidFill>
                  <a:srgbClr val="2C2C2C"/>
                </a:solidFill>
                <a:latin typeface="Calibri"/>
              </a:rPr>
              <a:t>  3/4 genres correctly classified after fine-tuning</a:t>
            </a:r>
          </a:p>
          <a:p>
            <a:pPr algn="l">
              <a:spcBef>
                <a:spcPts val="500"/>
              </a:spcBef>
            </a:pPr>
            <a:r>
              <a:rPr sz="1700" b="0">
                <a:solidFill>
                  <a:srgbClr val="2C2C2C"/>
                </a:solidFill>
                <a:latin typeface="Calibri"/>
              </a:rPr>
              <a:t>  Proof-of-concept with only 72 training samples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315468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A1A2E"/>
                </a:solidFill>
                <a:latin typeface="Calibri"/>
              </a:rPr>
              <a:t>Key Takeaways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3611880"/>
            <a:ext cx="11460175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</a:pPr>
            <a:r>
              <a:rPr sz="1900" b="0">
                <a:solidFill>
                  <a:srgbClr val="2C2C2C"/>
                </a:solidFill>
                <a:latin typeface="Calibri"/>
              </a:rPr>
              <a:t>1.  Statistical objectives (cross-entropy) do not guarantee musical quality</a:t>
            </a:r>
          </a:p>
          <a:p>
            <a:pPr algn="l">
              <a:spcBef>
                <a:spcPts val="800"/>
              </a:spcBef>
            </a:pPr>
            <a:r>
              <a:rPr sz="1900" b="0">
                <a:solidFill>
                  <a:srgbClr val="2C2C2C"/>
                </a:solidFill>
                <a:latin typeface="Calibri"/>
              </a:rPr>
              <a:t>2.  Fine-tuning large pretrained models is practical and effective, even with limited data and compute</a:t>
            </a:r>
          </a:p>
          <a:p>
            <a:pPr algn="l">
              <a:spcBef>
                <a:spcPts val="800"/>
              </a:spcBef>
            </a:pPr>
            <a:r>
              <a:rPr sz="1900" b="0">
                <a:solidFill>
                  <a:srgbClr val="2C2C2C"/>
                </a:solidFill>
                <a:latin typeface="Calibri"/>
              </a:rPr>
              <a:t>3.  The choice between symbolic and continuous representations fundamentally shapes what you can evaluate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10881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 i="0">
                <a:solidFill>
                  <a:srgbClr val="1A1A2E"/>
                </a:solidFill>
                <a:latin typeface="Calibri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20040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 i="0">
                <a:solidFill>
                  <a:srgbClr val="55656E"/>
                </a:solidFill>
                <a:latin typeface="Calibri"/>
              </a:rPr>
              <a:t>Questions?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0" y="4206240"/>
            <a:ext cx="5760720" cy="502920"/>
          </a:xfrm>
          <a:prstGeom prst="rect">
            <a:avLst/>
          </a:prstGeom>
          <a:solidFill>
            <a:srgbClr val="E8EA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0" y="4206240"/>
            <a:ext cx="5760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1A1A2E"/>
                </a:solidFill>
                <a:latin typeface="Calibri"/>
              </a:rPr>
              <a:t>Code and notebook:  workbook.ipynb  |  workbook.html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Generated Music Demo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5577840" cy="41148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Task 1 -- Symbolic (MIDI)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53949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</a:pPr>
            <a:r>
              <a:rPr sz="1700" b="0">
                <a:solidFill>
                  <a:srgbClr val="2C2C2C"/>
                </a:solidFill>
                <a:latin typeface="Calibri"/>
              </a:rPr>
              <a:t>1.  Real Bach chorale (reference): sample_chorale_real.mid</a:t>
            </a:r>
          </a:p>
          <a:p>
            <a:pPr algn="l">
              <a:spcBef>
                <a:spcPts val="800"/>
              </a:spcBef>
            </a:pPr>
            <a:r>
              <a:rPr sz="1700" b="0">
                <a:solidFill>
                  <a:srgbClr val="2C2C2C"/>
                </a:solidFill>
                <a:latin typeface="Calibri"/>
              </a:rPr>
              <a:t>2.  Bigram Markov Chain: markov_chorale.mid</a:t>
            </a:r>
          </a:p>
          <a:p>
            <a:pPr algn="l">
              <a:spcBef>
                <a:spcPts val="800"/>
              </a:spcBef>
            </a:pPr>
            <a:r>
              <a:rPr sz="1700" b="0">
                <a:solidFill>
                  <a:srgbClr val="2C2C2C"/>
                </a:solidFill>
                <a:latin typeface="Calibri"/>
              </a:rPr>
              <a:t>3.  LSTM (temperature 0.9): symbolic_unconditioned.mid  [main deliverable]</a:t>
            </a:r>
          </a:p>
        </p:txBody>
      </p:sp>
      <p:sp>
        <p:nvSpPr>
          <p:cNvPr id="7" name="Rectangle 6"/>
          <p:cNvSpPr/>
          <p:nvPr/>
        </p:nvSpPr>
        <p:spPr>
          <a:xfrm>
            <a:off x="6309360" y="1097280"/>
            <a:ext cx="5577840" cy="41148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097280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Task 4 -- Continuous (Audio)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554480"/>
            <a:ext cx="53949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</a:pPr>
            <a:r>
              <a:rPr sz="1600" b="0">
                <a:solidFill>
                  <a:srgbClr val="2C2C2C"/>
                </a:solidFill>
                <a:latin typeface="Calibri"/>
              </a:rPr>
              <a:t>4.  Pretrained, Electronic: generated_audio/electronic_generated.mp3</a:t>
            </a:r>
          </a:p>
          <a:p>
            <a:pPr algn="l">
              <a:spcBef>
                <a:spcPts val="600"/>
              </a:spcBef>
            </a:pPr>
            <a:r>
              <a:rPr sz="1600" b="0">
                <a:solidFill>
                  <a:srgbClr val="2C2C2C"/>
                </a:solidFill>
                <a:latin typeface="Calibri"/>
              </a:rPr>
              <a:t>5.  Fine-tuned, Electronic: generated_audio_finetuned/electronic_generated.mp3</a:t>
            </a:r>
          </a:p>
          <a:p>
            <a:pPr algn="l">
              <a:spcBef>
                <a:spcPts val="600"/>
              </a:spcBef>
            </a:pPr>
            <a:r>
              <a:rPr sz="1600" b="0">
                <a:solidFill>
                  <a:srgbClr val="2C2C2C"/>
                </a:solidFill>
                <a:latin typeface="Calibri"/>
              </a:rPr>
              <a:t>6.  Pretrained, Folk: generated_audio/folk_generated.mp3</a:t>
            </a:r>
          </a:p>
          <a:p>
            <a:pPr algn="l">
              <a:spcBef>
                <a:spcPts val="600"/>
              </a:spcBef>
            </a:pPr>
            <a:r>
              <a:rPr sz="1600" b="0">
                <a:solidFill>
                  <a:srgbClr val="2C2C2C"/>
                </a:solidFill>
                <a:latin typeface="Calibri"/>
              </a:rPr>
              <a:t>7.  Fine-tuned, Folk: generated_audio_finetuned/folk_generated.mp3</a:t>
            </a:r>
          </a:p>
          <a:p>
            <a:pPr algn="l">
              <a:spcBef>
                <a:spcPts val="600"/>
              </a:spcBef>
            </a:pPr>
            <a:r>
              <a:rPr sz="1600" b="0">
                <a:solidFill>
                  <a:srgbClr val="2C2C2C"/>
                </a:solidFill>
                <a:latin typeface="Calibri"/>
              </a:rPr>
              <a:t>8.  Main deliverable: continuous_conditioned.mp3 (Hip-Hop prompt)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4846319"/>
            <a:ext cx="11460175" cy="109728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5010911"/>
            <a:ext cx="114601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55656E"/>
                </a:solidFill>
                <a:latin typeface="Calibri"/>
              </a:rPr>
              <a:t>Audio plays over this slide -- not counted toward the 20-minute time limit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